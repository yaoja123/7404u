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275784" cy="4754880"/>
          </a:xfrm>
          <a:prstGeom prst="rect">
            <a:avLst/>
          </a:prstGeom>
          <a:solidFill>
            <a:srgbClr val="0E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21129498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0" b="1">
                <a:solidFill>
                  <a:srgbClr val="FFFFFF"/>
                </a:solidFill>
                <a:latin typeface="Aptos Display"/>
              </a:rPr>
              <a:t>MaxSup</a:t>
            </a:r>
          </a:p>
        </p:txBody>
      </p:sp>
      <p:sp>
        <p:nvSpPr>
          <p:cNvPr id="5" name="Oval 4"/>
          <p:cNvSpPr/>
          <p:nvPr/>
        </p:nvSpPr>
        <p:spPr>
          <a:xfrm>
            <a:off x="9738360" y="777240"/>
            <a:ext cx="347472" cy="347472"/>
          </a:xfrm>
          <a:prstGeom prst="ellipse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22501098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600" b="0">
                <a:solidFill>
                  <a:srgbClr val="E0DDD7"/>
                </a:solidFill>
                <a:latin typeface="Aptos Display"/>
              </a:rPr>
              <a:t>Overcoming Representation Collapse in Label Smoothing</a:t>
            </a:r>
          </a:p>
        </p:txBody>
      </p:sp>
      <p:pic>
        <p:nvPicPr>
          <p:cNvPr id="7" name="Picture 6" descr="assets_hku_logo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9658" y="640080"/>
            <a:ext cx="6860286" cy="16948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09658" y="2011680"/>
            <a:ext cx="6860286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2100" b="1">
                <a:solidFill>
                  <a:srgbClr val="E0DDD7"/>
                </a:solidFill>
                <a:latin typeface="Aptos"/>
              </a:rPr>
              <a:t>Group {{GROUP_ID}}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9658" y="2578608"/>
            <a:ext cx="6860286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700" b="0">
                <a:solidFill>
                  <a:srgbClr val="5B6470"/>
                </a:solidFill>
                <a:latin typeface="Aptos"/>
              </a:rPr>
              <a:t>{{NAME_1}}  ·  {{NAME_2}}  ·  {{NAME_3}}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9658" y="3383280"/>
            <a:ext cx="6860286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700" b="0">
                <a:solidFill>
                  <a:srgbClr val="5B6470"/>
                </a:solidFill>
                <a:latin typeface="Aptos"/>
              </a:rPr>
              <a:t>COMP7404  ·  HKU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28264104" cy="1051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3600" b="0">
                <a:solidFill>
                  <a:srgbClr val="0E1116"/>
                </a:solidFill>
                <a:latin typeface="Aptos Display"/>
              </a:rPr>
              <a:t>“The class that should be regularized is not always the labeled class — it’s the class the model currently trusts most.”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6236208"/>
            <a:ext cx="28264104" cy="22860"/>
          </a:xfrm>
          <a:prstGeom prst="rect">
            <a:avLst/>
          </a:prstGeom>
          <a:solidFill>
            <a:srgbClr val="E0D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6675120"/>
            <a:ext cx="54864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1">
                <a:solidFill>
                  <a:srgbClr val="5B6470"/>
                </a:solidFill>
                <a:latin typeface="Aptos"/>
              </a:rPr>
              <a:t>THE CORE INSIGHT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7360920"/>
            <a:ext cx="11616690" cy="11201400"/>
          </a:xfrm>
          <a:prstGeom prst="roundRect">
            <a:avLst>
              <a:gd name="adj" fmla="val 10000"/>
            </a:avLst>
          </a:prstGeom>
          <a:solidFill>
            <a:srgbClr val="E8EDF8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17320" y="7772400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7781544"/>
            <a:ext cx="292608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MISCLASSIFIED SAMPLE</a:t>
            </a:r>
          </a:p>
        </p:txBody>
      </p:sp>
      <p:sp>
        <p:nvSpPr>
          <p:cNvPr id="17" name="Oval 16"/>
          <p:cNvSpPr/>
          <p:nvPr/>
        </p:nvSpPr>
        <p:spPr>
          <a:xfrm>
            <a:off x="5808345" y="8503920"/>
            <a:ext cx="2011680" cy="1554480"/>
          </a:xfrm>
          <a:prstGeom prst="ellipse">
            <a:avLst/>
          </a:prstGeom>
          <a:solidFill>
            <a:srgbClr val="E8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74104" y="7589520"/>
            <a:ext cx="1280160" cy="1280160"/>
          </a:xfrm>
          <a:prstGeom prst="ellipse">
            <a:avLst/>
          </a:prstGeom>
          <a:solidFill>
            <a:srgbClr val="E8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>
            <a:off x="6219824" y="7040880"/>
            <a:ext cx="320040" cy="548640"/>
          </a:xfrm>
          <a:prstGeom prst="rtTriangle">
            <a:avLst/>
          </a:prstGeom>
          <a:solidFill>
            <a:srgbClr val="E8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Triangle 19"/>
          <p:cNvSpPr/>
          <p:nvPr/>
        </p:nvSpPr>
        <p:spPr>
          <a:xfrm>
            <a:off x="7088504" y="7040880"/>
            <a:ext cx="320040" cy="548640"/>
          </a:xfrm>
          <a:prstGeom prst="rtTriangle">
            <a:avLst/>
          </a:prstGeom>
          <a:solidFill>
            <a:srgbClr val="E8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8686800"/>
            <a:ext cx="10793729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700" b="0">
                <a:solidFill>
                  <a:srgbClr val="5B6470"/>
                </a:solidFill>
                <a:latin typeface="Aptos"/>
              </a:rPr>
              <a:t>GT = cat  (but model predicts fox)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11018520"/>
            <a:ext cx="10793729" cy="676656"/>
          </a:xfrm>
          <a:prstGeom prst="roundRect">
            <a:avLst>
              <a:gd name="adj" fmla="val 10000"/>
            </a:avLst>
          </a:prstGeom>
          <a:solidFill>
            <a:srgbClr val="FCECEA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11128248"/>
            <a:ext cx="1371600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600" b="1">
                <a:solidFill>
                  <a:srgbClr val="C1121F"/>
                </a:solidFill>
                <a:latin typeface="Aptos"/>
              </a:rPr>
              <a:t>fox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11219688"/>
            <a:ext cx="7604283" cy="347471"/>
          </a:xfrm>
          <a:prstGeom prst="roundRect">
            <a:avLst>
              <a:gd name="adj" fmla="val 10000"/>
            </a:avLst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3810" y="11128248"/>
            <a:ext cx="640080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2600" b="1">
                <a:solidFill>
                  <a:srgbClr val="C1121F"/>
                </a:solidFill>
                <a:latin typeface="Aptos"/>
              </a:rPr>
              <a:t>2.8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11768328"/>
            <a:ext cx="10793729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11878056"/>
            <a:ext cx="1371600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600" b="0">
                <a:solidFill>
                  <a:srgbClr val="0E1116"/>
                </a:solidFill>
                <a:latin typeface="Aptos"/>
              </a:rPr>
              <a:t>cat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11969496"/>
            <a:ext cx="2715815" cy="347471"/>
          </a:xfrm>
          <a:prstGeom prst="roundRect">
            <a:avLst>
              <a:gd name="adj" fmla="val 10000"/>
            </a:avLst>
          </a:prstGeom>
          <a:solidFill>
            <a:srgbClr val="E8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3810" y="11878056"/>
            <a:ext cx="640080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2600" b="0">
                <a:solidFill>
                  <a:srgbClr val="5B6470"/>
                </a:solidFill>
                <a:latin typeface="Aptos"/>
              </a:rPr>
              <a:t>1.0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12518136"/>
            <a:ext cx="10793729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12627864"/>
            <a:ext cx="1371600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600" b="0">
                <a:solidFill>
                  <a:srgbClr val="0E1116"/>
                </a:solidFill>
                <a:latin typeface="Aptos"/>
              </a:rPr>
              <a:t>dog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12719304"/>
            <a:ext cx="1086326" cy="347471"/>
          </a:xfrm>
          <a:prstGeom prst="roundRect">
            <a:avLst>
              <a:gd name="adj" fmla="val 10000"/>
            </a:avLst>
          </a:prstGeom>
          <a:solidFill>
            <a:srgbClr val="E8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3810" y="12627864"/>
            <a:ext cx="640080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2600" b="0">
                <a:solidFill>
                  <a:srgbClr val="5B6470"/>
                </a:solidFill>
                <a:latin typeface="Aptos"/>
              </a:rPr>
              <a:t>0.4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13377672"/>
            <a:ext cx="10793729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C1121F"/>
                </a:solidFill>
                <a:latin typeface="Aptos"/>
              </a:rPr>
              <a:t>Model picks fox  (wrong)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896850" y="7360920"/>
            <a:ext cx="16373094" cy="11201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308329" y="7772400"/>
            <a:ext cx="15550134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600" b="1">
                <a:solidFill>
                  <a:srgbClr val="0E1116"/>
                </a:solidFill>
                <a:latin typeface="Aptos Display"/>
              </a:rPr>
              <a:t>How each method responds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08329" y="8778240"/>
            <a:ext cx="7637907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3600" b="1">
                <a:solidFill>
                  <a:srgbClr val="1E3A8A"/>
                </a:solidFill>
                <a:latin typeface="Aptos Display"/>
              </a:rPr>
              <a:t>Label Smoothing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036621" y="13880473"/>
            <a:ext cx="1333226" cy="2167246"/>
          </a:xfrm>
          <a:prstGeom prst="roundRect">
            <a:avLst>
              <a:gd name="adj" fmla="val 5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945181" y="13533001"/>
            <a:ext cx="1516106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0E1116"/>
                </a:solidFill>
                <a:latin typeface="Aptos"/>
              </a:rPr>
              <a:t>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945181" y="16102584"/>
            <a:ext cx="1516106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100" b="0">
                <a:solidFill>
                  <a:srgbClr val="5B6470"/>
                </a:solidFill>
                <a:latin typeface="Aptos"/>
              </a:rPr>
              <a:t>cat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460670" y="9979429"/>
            <a:ext cx="1333226" cy="6068290"/>
          </a:xfrm>
          <a:prstGeom prst="roundRect">
            <a:avLst>
              <a:gd name="adj" fmla="val 5000"/>
            </a:avLst>
          </a:prstGeom>
          <a:solidFill>
            <a:srgbClr val="E8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369230" y="9631957"/>
            <a:ext cx="1516106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100" b="0">
                <a:solidFill>
                  <a:srgbClr val="0E1116"/>
                </a:solidFill>
                <a:latin typeface="Aptos"/>
              </a:rPr>
              <a:t>2.8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369230" y="16102584"/>
            <a:ext cx="1516106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100" b="0">
                <a:solidFill>
                  <a:srgbClr val="5B6470"/>
                </a:solidFill>
                <a:latin typeface="Aptos"/>
              </a:rPr>
              <a:t>fox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884719" y="15180821"/>
            <a:ext cx="1333226" cy="866898"/>
          </a:xfrm>
          <a:prstGeom prst="roundRect">
            <a:avLst>
              <a:gd name="adj" fmla="val 5000"/>
            </a:avLst>
          </a:prstGeom>
          <a:solidFill>
            <a:srgbClr val="E8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793279" y="14833349"/>
            <a:ext cx="1516106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100" b="0">
                <a:solidFill>
                  <a:srgbClr val="0E1116"/>
                </a:solidFill>
                <a:latin typeface="Aptos"/>
              </a:rPr>
              <a:t>0.4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793279" y="16102584"/>
            <a:ext cx="1516106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100" b="0">
                <a:solidFill>
                  <a:srgbClr val="5B6470"/>
                </a:solidFill>
                <a:latin typeface="Aptos"/>
              </a:rPr>
              <a:t>dog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14169943" y="9436608"/>
            <a:ext cx="1066581" cy="502920"/>
          </a:xfrm>
          <a:prstGeom prst="downArrow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308329" y="16468344"/>
            <a:ext cx="7637907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1E3A8A"/>
                </a:solidFill>
                <a:latin typeface="Aptos"/>
              </a:rPr>
              <a:t>↓ suppresses GT cat  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220557" y="8778240"/>
            <a:ext cx="7637907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3600" b="1">
                <a:solidFill>
                  <a:srgbClr val="C1121F"/>
                </a:solidFill>
                <a:latin typeface="Aptos Display"/>
              </a:rPr>
              <a:t>MaxSup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948848" y="13880473"/>
            <a:ext cx="1333226" cy="2167246"/>
          </a:xfrm>
          <a:prstGeom prst="roundRect">
            <a:avLst>
              <a:gd name="adj" fmla="val 5000"/>
            </a:avLst>
          </a:prstGeom>
          <a:solidFill>
            <a:srgbClr val="E8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857408" y="13533001"/>
            <a:ext cx="1516106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100" b="0">
                <a:solidFill>
                  <a:srgbClr val="0E1116"/>
                </a:solidFill>
                <a:latin typeface="Aptos"/>
              </a:rPr>
              <a:t>1.0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857408" y="16102584"/>
            <a:ext cx="1516106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100" b="0">
                <a:solidFill>
                  <a:srgbClr val="5B6470"/>
                </a:solidFill>
                <a:latin typeface="Aptos"/>
              </a:rPr>
              <a:t>cat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4372897" y="9979429"/>
            <a:ext cx="1333226" cy="6068290"/>
          </a:xfrm>
          <a:prstGeom prst="roundRect">
            <a:avLst>
              <a:gd name="adj" fmla="val 5000"/>
            </a:avLst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281457" y="9631957"/>
            <a:ext cx="1516106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0E1116"/>
                </a:solidFill>
                <a:latin typeface="Aptos"/>
              </a:rPr>
              <a:t>2.8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281457" y="16102584"/>
            <a:ext cx="1516106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100" b="0">
                <a:solidFill>
                  <a:srgbClr val="5B6470"/>
                </a:solidFill>
                <a:latin typeface="Aptos"/>
              </a:rPr>
              <a:t>fox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796946" y="15180821"/>
            <a:ext cx="1333226" cy="866898"/>
          </a:xfrm>
          <a:prstGeom prst="roundRect">
            <a:avLst>
              <a:gd name="adj" fmla="val 5000"/>
            </a:avLst>
          </a:prstGeom>
          <a:solidFill>
            <a:srgbClr val="E8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705506" y="14833349"/>
            <a:ext cx="1516106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100" b="0">
                <a:solidFill>
                  <a:srgbClr val="0E1116"/>
                </a:solidFill>
                <a:latin typeface="Aptos"/>
              </a:rPr>
              <a:t>0.4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705506" y="16102584"/>
            <a:ext cx="1516106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100" b="0">
                <a:solidFill>
                  <a:srgbClr val="5B6470"/>
                </a:solidFill>
                <a:latin typeface="Aptos"/>
              </a:rPr>
              <a:t>dog</a:t>
            </a:r>
          </a:p>
        </p:txBody>
      </p:sp>
      <p:sp>
        <p:nvSpPr>
          <p:cNvPr id="59" name="Down Arrow 58"/>
          <p:cNvSpPr/>
          <p:nvPr/>
        </p:nvSpPr>
        <p:spPr>
          <a:xfrm>
            <a:off x="24506219" y="9436608"/>
            <a:ext cx="1066581" cy="502920"/>
          </a:xfrm>
          <a:prstGeom prst="downArrow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220557" y="16468344"/>
            <a:ext cx="7637907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C1121F"/>
                </a:solidFill>
                <a:latin typeface="Aptos"/>
              </a:rPr>
              <a:t>↓ suppresses wrong fox  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3308329" y="16824960"/>
            <a:ext cx="15550134" cy="1417320"/>
          </a:xfrm>
          <a:prstGeom prst="roundRect">
            <a:avLst>
              <a:gd name="adj" fmla="val 10000"/>
            </a:avLst>
          </a:prstGeom>
          <a:solidFill>
            <a:srgbClr val="F0EEE9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491209" y="16934688"/>
            <a:ext cx="1518437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E3A8A"/>
                </a:solidFill>
                <a:latin typeface="Courier New"/>
              </a:rPr>
              <a:t>L_LS = α ( z_gt − mean(z) 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491209" y="17446752"/>
            <a:ext cx="15184374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1">
                <a:solidFill>
                  <a:srgbClr val="C1121F"/>
                </a:solidFill>
                <a:latin typeface="Courier New"/>
              </a:rPr>
              <a:t>L_MaxSup = α ( z_max − mean(z) )  ← one symbol changed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" y="18672048"/>
            <a:ext cx="28264104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100" b="0">
                <a:solidFill>
                  <a:srgbClr val="5B6470"/>
                </a:solidFill>
                <a:latin typeface="Aptos"/>
              </a:rPr>
              <a:t>LS penalizes the labeled class even when the model is already wrong. MaxSup penalizes whichever class the model currently trusts most — a consistent signal in both correct and wrong predictions.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" y="19431000"/>
            <a:ext cx="28264104" cy="22860"/>
          </a:xfrm>
          <a:prstGeom prst="rect">
            <a:avLst/>
          </a:prstGeom>
          <a:solidFill>
            <a:srgbClr val="E0D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19613880"/>
            <a:ext cx="7315200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5200" b="1">
                <a:solidFill>
                  <a:srgbClr val="0E1116"/>
                </a:solidFill>
                <a:latin typeface="Aptos Display"/>
              </a:rPr>
              <a:t>PROBLEM &amp; METHOD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05840" y="20528280"/>
            <a:ext cx="13994892" cy="6858000"/>
          </a:xfrm>
          <a:prstGeom prst="roundRect">
            <a:avLst>
              <a:gd name="adj" fmla="val 10000"/>
            </a:avLst>
          </a:prstGeom>
          <a:solidFill>
            <a:srgbClr val="E8EDF8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417320" y="20939760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17320" y="20948904"/>
            <a:ext cx="25603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THE PROBLEM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17320" y="21625560"/>
            <a:ext cx="13171932" cy="9601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>
                <a:solidFill>
                  <a:srgbClr val="0E1116"/>
                </a:solidFill>
                <a:latin typeface="Aptos Display"/>
              </a:rPr>
              <a:t>LS decomposes into two terms: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417320" y="22768560"/>
            <a:ext cx="13171932" cy="1691640"/>
          </a:xfrm>
          <a:prstGeom prst="roundRect">
            <a:avLst>
              <a:gd name="adj" fmla="val 10000"/>
            </a:avLst>
          </a:prstGeom>
          <a:solidFill>
            <a:srgbClr val="E2F4EC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554480" y="22933152"/>
            <a:ext cx="1289761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B7A4E"/>
                </a:solidFill>
                <a:latin typeface="Aptos Display"/>
              </a:rPr>
              <a:t>Regularization term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54480" y="23426927"/>
            <a:ext cx="12897611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0">
                <a:solidFill>
                  <a:srgbClr val="0E1116"/>
                </a:solidFill>
                <a:latin typeface="Aptos"/>
              </a:rPr>
              <a:t>Acts on logits below z_gt.</a:t>
            </a:r>
            <a:br/>
            <a:r>
              <a:t>Reduces overconfidence. Good.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417320" y="24871680"/>
            <a:ext cx="13171932" cy="1691640"/>
          </a:xfrm>
          <a:prstGeom prst="roundRect">
            <a:avLst>
              <a:gd name="adj" fmla="val 10000"/>
            </a:avLst>
          </a:prstGeom>
          <a:solidFill>
            <a:srgbClr val="FCECEA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554480" y="25036272"/>
            <a:ext cx="12897611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>
                <a:solidFill>
                  <a:srgbClr val="C1121F"/>
                </a:solidFill>
                <a:latin typeface="Aptos Display"/>
              </a:rPr>
              <a:t>Error amplification term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54480" y="25530048"/>
            <a:ext cx="12897611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0">
                <a:solidFill>
                  <a:srgbClr val="0E1116"/>
                </a:solidFill>
                <a:latin typeface="Aptos"/>
              </a:rPr>
              <a:t>Acts on logits above z_gt.</a:t>
            </a:r>
            <a:br/>
            <a:r>
              <a:t>When model is wrong, widens the gap. Bad.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17320" y="26791920"/>
            <a:ext cx="13171932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1">
                <a:solidFill>
                  <a:srgbClr val="5B6470"/>
                </a:solidFill>
                <a:latin typeface="Aptos"/>
              </a:rPr>
              <a:t>On misclassified samples, the bad term dominates.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5275051" y="20528280"/>
            <a:ext cx="13994892" cy="6858000"/>
          </a:xfrm>
          <a:prstGeom prst="roundRect">
            <a:avLst>
              <a:gd name="adj" fmla="val 10000"/>
            </a:avLst>
          </a:prstGeom>
          <a:solidFill>
            <a:srgbClr val="FCECEA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5686531" y="20939760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5686531" y="20948904"/>
            <a:ext cx="228600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THE FIX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686531" y="21625560"/>
            <a:ext cx="13171932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>
                <a:solidFill>
                  <a:srgbClr val="0E1116"/>
                </a:solidFill>
                <a:latin typeface="Aptos Display"/>
              </a:rPr>
              <a:t>One substitution eliminates the bad term: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5686531" y="22448520"/>
            <a:ext cx="1317193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869411" y="22539960"/>
            <a:ext cx="12806172" cy="42062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5200" b="1">
                <a:solidFill>
                  <a:srgbClr val="C1121F"/>
                </a:solidFill>
                <a:latin typeface="Aptos Display"/>
              </a:rPr>
              <a:t>z_gt   ➜   z_max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869411" y="23042880"/>
            <a:ext cx="12806172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700" b="0">
                <a:solidFill>
                  <a:srgbClr val="5B6470"/>
                </a:solidFill>
                <a:latin typeface="Aptos"/>
              </a:rPr>
              <a:t>replace ground-truth logit with top-1 logit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5686531" y="23820120"/>
            <a:ext cx="13171932" cy="1508760"/>
          </a:xfrm>
          <a:prstGeom prst="roundRect">
            <a:avLst>
              <a:gd name="adj" fmla="val 10000"/>
            </a:avLst>
          </a:prstGeom>
          <a:solidFill>
            <a:srgbClr val="E2F4EC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5823691" y="23984712"/>
            <a:ext cx="12897611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B7A4E"/>
                </a:solidFill>
                <a:latin typeface="Aptos Display"/>
              </a:rPr>
              <a:t>Correct prediction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823691" y="24460200"/>
            <a:ext cx="12897611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0">
                <a:solidFill>
                  <a:srgbClr val="0E1116"/>
                </a:solidFill>
                <a:latin typeface="Aptos"/>
              </a:rPr>
              <a:t>z_max = z_gt</a:t>
            </a:r>
            <a:br/>
            <a:r>
              <a:t>Acts exactly like confidence regularization.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686531" y="25694640"/>
            <a:ext cx="13171932" cy="1508760"/>
          </a:xfrm>
          <a:prstGeom prst="roundRect">
            <a:avLst>
              <a:gd name="adj" fmla="val 10000"/>
            </a:avLst>
          </a:prstGeom>
          <a:solidFill>
            <a:srgbClr val="FCECEA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5823691" y="25859232"/>
            <a:ext cx="12897611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>
                <a:solidFill>
                  <a:srgbClr val="C1121F"/>
                </a:solidFill>
                <a:latin typeface="Aptos Display"/>
              </a:rPr>
              <a:t>Wrong prediction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5823691" y="26334720"/>
            <a:ext cx="12897611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0">
                <a:solidFill>
                  <a:srgbClr val="0E1116"/>
                </a:solidFill>
                <a:latin typeface="Aptos"/>
              </a:rPr>
              <a:t>z_max ≠ z_gt</a:t>
            </a:r>
            <a:br/>
            <a:r>
              <a:t>Directly suppresses the wrong dominant class.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686531" y="26791920"/>
            <a:ext cx="13171932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1">
                <a:solidFill>
                  <a:srgbClr val="5B6470"/>
                </a:solidFill>
                <a:latin typeface="Aptos"/>
              </a:rPr>
              <a:t>Consistent regularization signal regardless of correctness.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5840" y="27934920"/>
            <a:ext cx="28264104" cy="22860"/>
          </a:xfrm>
          <a:prstGeom prst="rect">
            <a:avLst/>
          </a:prstGeom>
          <a:solidFill>
            <a:srgbClr val="E0D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05840" y="28209239"/>
            <a:ext cx="7315200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5200" b="1">
                <a:solidFill>
                  <a:srgbClr val="0E1116"/>
                </a:solidFill>
                <a:latin typeface="Aptos Display"/>
              </a:rPr>
              <a:t>RESULTS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05840" y="29123639"/>
            <a:ext cx="9238488" cy="5486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417320" y="29535119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417320" y="29544263"/>
            <a:ext cx="237744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DeiT-Small  ImageNet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417320" y="30266639"/>
            <a:ext cx="8415528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800" b="1">
                <a:solidFill>
                  <a:srgbClr val="0E1116"/>
                </a:solidFill>
                <a:latin typeface="Aptos Display"/>
              </a:rPr>
              <a:t>76.49%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17320" y="31455360"/>
            <a:ext cx="8415528" cy="2834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0">
                <a:solidFill>
                  <a:srgbClr val="5B6470"/>
                </a:solidFill>
                <a:latin typeface="Aptos"/>
              </a:rPr>
              <a:t>+0.41 over LS</a:t>
            </a:r>
            <a:br/>
            <a:r>
              <a:t>+2.10 over Baseline</a:t>
            </a:r>
            <a:br/>
            <a:r>
              <a:t>Works on Transformers, not just CNNs.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518648" y="29123639"/>
            <a:ext cx="9238488" cy="5486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0930128" y="29535119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930128" y="29544263"/>
            <a:ext cx="237744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ADE20K  Segmentation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930128" y="30266639"/>
            <a:ext cx="8415528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800" b="1">
                <a:solidFill>
                  <a:srgbClr val="0E1116"/>
                </a:solidFill>
                <a:latin typeface="Aptos Display"/>
              </a:rPr>
              <a:t>42.8 mIoU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930128" y="31455360"/>
            <a:ext cx="8415528" cy="2834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0">
                <a:solidFill>
                  <a:srgbClr val="5B6470"/>
                </a:solidFill>
                <a:latin typeface="Aptos"/>
              </a:rPr>
              <a:t>+0.4 over LS</a:t>
            </a:r>
            <a:br/>
            <a:r>
              <a:t>Backbone features transfer better</a:t>
            </a:r>
            <a:br/>
            <a:r>
              <a:t>to dense prediction tasks.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0031456" y="29123639"/>
            <a:ext cx="9238488" cy="5486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20442936" y="29535119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0442936" y="29544263"/>
            <a:ext cx="237744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Grad-CAM  Attention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0442936" y="30266639"/>
            <a:ext cx="8415528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800" b="1">
                <a:solidFill>
                  <a:srgbClr val="0E1116"/>
                </a:solidFill>
                <a:latin typeface="Aptos Display"/>
              </a:rPr>
              <a:t>More focused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442936" y="31455360"/>
            <a:ext cx="8415528" cy="2834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0">
                <a:solidFill>
                  <a:srgbClr val="5B6470"/>
                </a:solidFill>
                <a:latin typeface="Aptos"/>
              </a:rPr>
              <a:t>LS attends to background cues.</a:t>
            </a:r>
            <a:br/>
            <a:r>
              <a:t>MaxSup attends to the object body.</a:t>
            </a:r>
            <a:br/>
            <a:r>
              <a:t>Better visual interpretability.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05840" y="35158679"/>
            <a:ext cx="28264104" cy="22860"/>
          </a:xfrm>
          <a:prstGeom prst="rect">
            <a:avLst/>
          </a:prstGeom>
          <a:solidFill>
            <a:srgbClr val="E0D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05840" y="35432999"/>
            <a:ext cx="9144000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5200" b="1">
                <a:solidFill>
                  <a:srgbClr val="0E1116"/>
                </a:solidFill>
                <a:latin typeface="Aptos Display"/>
              </a:rPr>
              <a:t>WHY IT MATTERS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005840" y="36347399"/>
            <a:ext cx="6860286" cy="2606040"/>
          </a:xfrm>
          <a:prstGeom prst="roundRect">
            <a:avLst>
              <a:gd name="adj" fmla="val 10000"/>
            </a:avLst>
          </a:prstGeom>
          <a:solidFill>
            <a:srgbClr val="F0EEE9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417320" y="36621719"/>
            <a:ext cx="6037326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600" b="1">
                <a:solidFill>
                  <a:srgbClr val="0E1116"/>
                </a:solidFill>
                <a:latin typeface="Aptos Display"/>
              </a:rPr>
              <a:t>[1]  Plug-in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417320" y="37307519"/>
            <a:ext cx="6037326" cy="1417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0">
                <a:solidFill>
                  <a:srgbClr val="5B6470"/>
                </a:solidFill>
                <a:latin typeface="Aptos"/>
              </a:rPr>
              <a:t>No architecture change. Drop-in loss replacement.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140446" y="36347399"/>
            <a:ext cx="6860286" cy="2606040"/>
          </a:xfrm>
          <a:prstGeom prst="roundRect">
            <a:avLst>
              <a:gd name="adj" fmla="val 10000"/>
            </a:avLst>
          </a:prstGeom>
          <a:solidFill>
            <a:srgbClr val="F0EEE9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551926" y="36621719"/>
            <a:ext cx="6037326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600" b="1">
                <a:solidFill>
                  <a:srgbClr val="0E1116"/>
                </a:solidFill>
                <a:latin typeface="Aptos Display"/>
              </a:rPr>
              <a:t>[2]  Consistent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551926" y="37307519"/>
            <a:ext cx="6037326" cy="1417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0">
                <a:solidFill>
                  <a:srgbClr val="5B6470"/>
                </a:solidFill>
                <a:latin typeface="Aptos"/>
              </a:rPr>
              <a:t>Same correct signal on all samples, right or wrong.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5275052" y="36347399"/>
            <a:ext cx="6860286" cy="2606040"/>
          </a:xfrm>
          <a:prstGeom prst="roundRect">
            <a:avLst>
              <a:gd name="adj" fmla="val 10000"/>
            </a:avLst>
          </a:prstGeom>
          <a:solidFill>
            <a:srgbClr val="F0EEE9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5686532" y="36621719"/>
            <a:ext cx="6037326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600" b="1">
                <a:solidFill>
                  <a:srgbClr val="0E1116"/>
                </a:solidFill>
                <a:latin typeface="Aptos Display"/>
              </a:rPr>
              <a:t>[3]  Transferable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5686532" y="37307519"/>
            <a:ext cx="6037326" cy="1417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0">
                <a:solidFill>
                  <a:srgbClr val="5B6470"/>
                </a:solidFill>
                <a:latin typeface="Aptos"/>
              </a:rPr>
              <a:t>Better features for segmentation, fine-grained, and OOD tasks.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2409658" y="36347399"/>
            <a:ext cx="6860286" cy="2606040"/>
          </a:xfrm>
          <a:prstGeom prst="roundRect">
            <a:avLst>
              <a:gd name="adj" fmla="val 10000"/>
            </a:avLst>
          </a:prstGeom>
          <a:solidFill>
            <a:srgbClr val="F0EEE9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2821138" y="36621719"/>
            <a:ext cx="6037326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600" b="1">
                <a:solidFill>
                  <a:srgbClr val="0E1116"/>
                </a:solidFill>
                <a:latin typeface="Aptos Display"/>
              </a:rPr>
              <a:t>[4]  Interpretable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2821138" y="37307519"/>
            <a:ext cx="6037326" cy="1417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100" b="0">
                <a:solidFill>
                  <a:srgbClr val="5B6470"/>
                </a:solidFill>
                <a:latin typeface="Aptos"/>
              </a:rPr>
              <a:t>Model attends to the right regions (Grad-CAM evidence).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05840" y="39364920"/>
            <a:ext cx="28264104" cy="22860"/>
          </a:xfrm>
          <a:prstGeom prst="rect">
            <a:avLst/>
          </a:prstGeom>
          <a:solidFill>
            <a:srgbClr val="E0D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0" y="39547799"/>
            <a:ext cx="30275784" cy="3255264"/>
          </a:xfrm>
          <a:prstGeom prst="rect">
            <a:avLst/>
          </a:prstGeom>
          <a:solidFill>
            <a:srgbClr val="0E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05840" y="39867839"/>
            <a:ext cx="16373094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0">
                <a:solidFill>
                  <a:srgbClr val="E0DDD7"/>
                </a:solidFill>
                <a:latin typeface="Aptos"/>
              </a:rPr>
              <a:t>MaxSup: Overcoming Representation Collapse in Label Smoothing  |  arXiv 2502.15798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5840" y="40389047"/>
            <a:ext cx="16373094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B6470"/>
                </a:solidFill>
                <a:latin typeface="Aptos"/>
              </a:rPr>
              <a:t>Limitation: low-shot class performance remains an open challenge.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0031456" y="39776399"/>
            <a:ext cx="1645920" cy="1645920"/>
          </a:xfrm>
          <a:prstGeom prst="roundRect">
            <a:avLst>
              <a:gd name="adj" fmla="val 10000"/>
            </a:avLst>
          </a:prstGeom>
          <a:solidFill>
            <a:srgbClr val="E8E6DF"/>
          </a:solidFill>
          <a:ln w="12700">
            <a:solidFill>
              <a:srgbClr val="E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0031456" y="39776399"/>
            <a:ext cx="1645920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100" b="0">
                <a:solidFill>
                  <a:srgbClr val="5B6470"/>
                </a:solidFill>
                <a:latin typeface="Aptos"/>
              </a:rPr>
              <a:t>Demo</a:t>
            </a:r>
            <a:br/>
            <a:r>
              <a:t>QR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4787860" y="39867839"/>
            <a:ext cx="4482084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Aptos Display"/>
              </a:rPr>
              <a:t>Simple.</a:t>
            </a:r>
            <a:br/>
            <a:r>
              <a:t>Focused.</a:t>
            </a:r>
            <a:br/>
            <a:r>
              <a:t>Better.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