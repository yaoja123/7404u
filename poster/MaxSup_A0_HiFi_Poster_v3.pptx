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3"/>
  </p:normalViewPr>
  <p:slideViewPr>
    <p:cSldViewPr snapToGrid="0" snapToObjects="1">
      <p:cViewPr>
        <p:scale>
          <a:sx n="47" d="100"/>
          <a:sy n="47" d="100"/>
        </p:scale>
        <p:origin x="632" y="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0275784" cy="42803064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274783" y="-639086"/>
            <a:ext cx="7315200" cy="3840480"/>
          </a:xfrm>
          <a:prstGeom prst="ellipse">
            <a:avLst/>
          </a:prstGeom>
          <a:solidFill>
            <a:srgbClr val="FDE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645920" y="8961120"/>
            <a:ext cx="5943600" cy="3657600"/>
          </a:xfrm>
          <a:prstGeom prst="ellipse">
            <a:avLst/>
          </a:prstGeom>
          <a:solidFill>
            <a:srgbClr val="EA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2402800" y="28346400"/>
            <a:ext cx="5943600" cy="4572000"/>
          </a:xfrm>
          <a:prstGeom prst="ellipse">
            <a:avLst/>
          </a:prstGeom>
          <a:solidFill>
            <a:srgbClr val="DD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868680"/>
            <a:ext cx="2286000" cy="438912"/>
          </a:xfrm>
          <a:prstGeom prst="roundRect">
            <a:avLst>
              <a:gd name="adj" fmla="val 38000"/>
            </a:avLst>
          </a:prstGeom>
          <a:solidFill>
            <a:srgbClr val="245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877824"/>
            <a:ext cx="2286000" cy="420623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A0 PORTRAIT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18288000" cy="100584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6200" b="1">
                <a:solidFill>
                  <a:srgbClr val="1D2A39"/>
                </a:solidFill>
                <a:latin typeface="Aptos Display"/>
              </a:rPr>
              <a:t>MaxSup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33472"/>
            <a:ext cx="19019520" cy="150876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3300" b="1">
                <a:solidFill>
                  <a:srgbClr val="1D2A39"/>
                </a:solidFill>
                <a:latin typeface="Aptos Display"/>
              </a:rPr>
              <a:t>Fixing Label Smoothing</a:t>
            </a:r>
            <a:br/>
            <a:r>
              <a:t>When the Model Is Wrong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79392"/>
            <a:ext cx="16002000" cy="86868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2100" b="0">
                <a:solidFill>
                  <a:srgbClr val="42576E"/>
                </a:solidFill>
                <a:latin typeface="Aptos"/>
              </a:rPr>
              <a:t>One idea. One substitution. Better behavior when the model is wrong.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805904" y="1024128"/>
            <a:ext cx="9555480" cy="3474720"/>
          </a:xfrm>
          <a:prstGeom prst="round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9705320" y="914400"/>
            <a:ext cx="9555480" cy="347472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0025360" y="1234440"/>
            <a:ext cx="2240280" cy="384048"/>
          </a:xfrm>
          <a:prstGeom prst="roundRect">
            <a:avLst>
              <a:gd name="adj" fmla="val 38000"/>
            </a:avLst>
          </a:prstGeom>
          <a:solidFill>
            <a:srgbClr val="F4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025360" y="1243584"/>
            <a:ext cx="2240280" cy="365759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/>
            <a:r>
              <a:rPr sz="1400" b="1">
                <a:solidFill>
                  <a:srgbClr val="1D2A39"/>
                </a:solidFill>
                <a:latin typeface="Aptos"/>
              </a:rPr>
              <a:t>GROUP INFO</a:t>
            </a:r>
          </a:p>
        </p:txBody>
      </p:sp>
      <p:pic>
        <p:nvPicPr>
          <p:cNvPr id="15" name="Picture 14" descr="assets_hku_logo_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8144" y="1054249"/>
            <a:ext cx="8046720" cy="198801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0025360" y="3246120"/>
            <a:ext cx="8869680" cy="438912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700" b="1" dirty="0">
                <a:solidFill>
                  <a:srgbClr val="1D2A39"/>
                </a:solidFill>
                <a:latin typeface="Aptos"/>
              </a:rPr>
              <a:t>Group ID: ________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025360" y="3611880"/>
            <a:ext cx="8869680" cy="713232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620" b="0">
                <a:solidFill>
                  <a:srgbClr val="42576E"/>
                </a:solidFill>
                <a:latin typeface="Aptos"/>
              </a:rPr>
              <a:t>Names: ________ / ________ / ________ / ________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025360" y="4069080"/>
            <a:ext cx="8869680" cy="256032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150" b="0">
                <a:solidFill>
                  <a:srgbClr val="6E7E8F"/>
                </a:solidFill>
                <a:latin typeface="Aptos"/>
              </a:rPr>
              <a:t>Put your real names here for the final submission.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4984" y="5596128"/>
            <a:ext cx="28437840" cy="10058400"/>
          </a:xfrm>
          <a:prstGeom prst="round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14400" y="5486400"/>
            <a:ext cx="28437840" cy="1005840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325880" y="5852160"/>
            <a:ext cx="2971800" cy="438912"/>
          </a:xfrm>
          <a:prstGeom prst="roundRect">
            <a:avLst>
              <a:gd name="adj" fmla="val 38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25880" y="5861304"/>
            <a:ext cx="2971800" cy="420623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EYE-CATCHING MAIN GRAPHIC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6492240"/>
            <a:ext cx="10972800" cy="86868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2800" b="1">
                <a:solidFill>
                  <a:srgbClr val="1D2A39"/>
                </a:solidFill>
                <a:latin typeface="Aptos Display"/>
              </a:rPr>
              <a:t>Wrong prediction example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7315200"/>
            <a:ext cx="5669280" cy="201168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2500" b="1">
                <a:solidFill>
                  <a:srgbClr val="42576E"/>
                </a:solidFill>
                <a:latin typeface="Aptos"/>
              </a:rPr>
              <a:t>GT = cat</a:t>
            </a:r>
            <a:br/>
            <a:r>
              <a:t>cat = 1.0</a:t>
            </a:r>
            <a:br/>
            <a:r>
              <a:t>fox = 2.8</a:t>
            </a:r>
            <a:br/>
            <a:r>
              <a:t>dog = 0.4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9646920"/>
            <a:ext cx="7498079" cy="11430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2050" b="1">
                <a:solidFill>
                  <a:srgbClr val="E76F51"/>
                </a:solidFill>
                <a:latin typeface="Aptos"/>
              </a:rPr>
              <a:t>LS penalizes the true class</a:t>
            </a:r>
            <a:br/>
            <a:r>
              <a:t>when the model is already wrong.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11155680"/>
            <a:ext cx="7589520" cy="11430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2050" b="1">
                <a:solidFill>
                  <a:srgbClr val="2458B3"/>
                </a:solidFill>
                <a:latin typeface="Aptos"/>
              </a:rPr>
              <a:t>MaxSup suppresses the dominant</a:t>
            </a:r>
            <a:br/>
            <a:r>
              <a:t>wrong logit instead.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81160" y="6675120"/>
            <a:ext cx="9372600" cy="7269480"/>
          </a:xfrm>
          <a:prstGeom prst="roundRect">
            <a:avLst/>
          </a:prstGeom>
          <a:solidFill>
            <a:srgbClr val="F8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8928080" y="6675120"/>
            <a:ext cx="9144000" cy="7269480"/>
          </a:xfrm>
          <a:prstGeom prst="roundRect">
            <a:avLst/>
          </a:prstGeom>
          <a:solidFill>
            <a:srgbClr val="EA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567160" y="7406640"/>
            <a:ext cx="3566160" cy="41148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2000" b="1">
                <a:solidFill>
                  <a:srgbClr val="1D2A39"/>
                </a:solidFill>
                <a:latin typeface="Aptos"/>
              </a:rPr>
              <a:t>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390120" y="9555480"/>
            <a:ext cx="566928" cy="594359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344400" y="10195560"/>
            <a:ext cx="658368" cy="2286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1250" b="0">
                <a:solidFill>
                  <a:srgbClr val="6E7E8F"/>
                </a:solidFill>
                <a:latin typeface="Aptos"/>
              </a:rPr>
              <a:t>cat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298680" y="9299448"/>
            <a:ext cx="749808" cy="20116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1250" b="1">
                <a:solidFill>
                  <a:srgbClr val="42576E"/>
                </a:solidFill>
                <a:latin typeface="Aptos"/>
              </a:rPr>
              <a:t>1.0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341096" y="8485632"/>
            <a:ext cx="566928" cy="1664207"/>
          </a:xfrm>
          <a:prstGeom prst="rect">
            <a:avLst/>
          </a:prstGeom>
          <a:solidFill>
            <a:srgbClr val="CFE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3295376" y="10195560"/>
            <a:ext cx="658368" cy="2286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1250" b="0">
                <a:solidFill>
                  <a:srgbClr val="6E7E8F"/>
                </a:solidFill>
                <a:latin typeface="Aptos"/>
              </a:rPr>
              <a:t>fox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49656" y="8229600"/>
            <a:ext cx="749808" cy="20116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1250" b="0">
                <a:solidFill>
                  <a:srgbClr val="42576E"/>
                </a:solidFill>
                <a:latin typeface="Aptos"/>
              </a:rPr>
              <a:t>2.8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292072" y="9912096"/>
            <a:ext cx="566928" cy="237744"/>
          </a:xfrm>
          <a:prstGeom prst="rect">
            <a:avLst/>
          </a:prstGeom>
          <a:solidFill>
            <a:srgbClr val="CFE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4246352" y="10195560"/>
            <a:ext cx="658368" cy="2286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1250" b="0">
                <a:solidFill>
                  <a:srgbClr val="6E7E8F"/>
                </a:solidFill>
                <a:latin typeface="Aptos"/>
              </a:rPr>
              <a:t>dog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200632" y="9656064"/>
            <a:ext cx="749808" cy="20116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1250" b="0">
                <a:solidFill>
                  <a:srgbClr val="42576E"/>
                </a:solidFill>
                <a:latin typeface="Aptos"/>
              </a:rPr>
              <a:t>0.4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12527280" y="8001000"/>
            <a:ext cx="292608" cy="530352"/>
          </a:xfrm>
          <a:prstGeom prst="downArrow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658600" y="10469880"/>
            <a:ext cx="3383280" cy="256032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1300" b="0">
                <a:solidFill>
                  <a:srgbClr val="42576E"/>
                </a:solidFill>
                <a:latin typeface="Aptos"/>
              </a:rPr>
              <a:t>penalize z_gt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168360" y="7406640"/>
            <a:ext cx="3566160" cy="41148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2000" b="1">
                <a:solidFill>
                  <a:srgbClr val="1D2A39"/>
                </a:solidFill>
                <a:latin typeface="Aptos"/>
              </a:rPr>
              <a:t>MaxSup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991319" y="9555480"/>
            <a:ext cx="566928" cy="594359"/>
          </a:xfrm>
          <a:prstGeom prst="rect">
            <a:avLst/>
          </a:prstGeom>
          <a:solidFill>
            <a:srgbClr val="CFE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1945599" y="10195560"/>
            <a:ext cx="658368" cy="2286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1250" b="0">
                <a:solidFill>
                  <a:srgbClr val="6E7E8F"/>
                </a:solidFill>
                <a:latin typeface="Aptos"/>
              </a:rPr>
              <a:t>cat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899879" y="9299448"/>
            <a:ext cx="749808" cy="20116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1250" b="0">
                <a:solidFill>
                  <a:srgbClr val="42576E"/>
                </a:solidFill>
                <a:latin typeface="Aptos"/>
              </a:rPr>
              <a:t>1.0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942295" y="8485632"/>
            <a:ext cx="566928" cy="1664207"/>
          </a:xfrm>
          <a:prstGeom prst="rect">
            <a:avLst/>
          </a:prstGeom>
          <a:solidFill>
            <a:srgbClr val="245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2896575" y="10195560"/>
            <a:ext cx="658368" cy="2286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1250" b="0">
                <a:solidFill>
                  <a:srgbClr val="6E7E8F"/>
                </a:solidFill>
                <a:latin typeface="Aptos"/>
              </a:rPr>
              <a:t>fox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850855" y="8229600"/>
            <a:ext cx="749808" cy="20116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1250" b="1">
                <a:solidFill>
                  <a:srgbClr val="42576E"/>
                </a:solidFill>
                <a:latin typeface="Aptos"/>
              </a:rPr>
              <a:t>2.8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893271" y="9912096"/>
            <a:ext cx="566928" cy="237744"/>
          </a:xfrm>
          <a:prstGeom prst="rect">
            <a:avLst/>
          </a:prstGeom>
          <a:solidFill>
            <a:srgbClr val="CFE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3847551" y="10195560"/>
            <a:ext cx="658368" cy="2286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1250" b="0">
                <a:solidFill>
                  <a:srgbClr val="6E7E8F"/>
                </a:solidFill>
                <a:latin typeface="Aptos"/>
              </a:rPr>
              <a:t>dog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801831" y="9656064"/>
            <a:ext cx="749808" cy="20116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1250" b="0">
                <a:solidFill>
                  <a:srgbClr val="42576E"/>
                </a:solidFill>
                <a:latin typeface="Aptos"/>
              </a:rPr>
              <a:t>0.4</a:t>
            </a:r>
          </a:p>
        </p:txBody>
      </p:sp>
      <p:sp>
        <p:nvSpPr>
          <p:cNvPr id="51" name="Down Arrow 50"/>
          <p:cNvSpPr/>
          <p:nvPr/>
        </p:nvSpPr>
        <p:spPr>
          <a:xfrm>
            <a:off x="23079455" y="8001000"/>
            <a:ext cx="292608" cy="530352"/>
          </a:xfrm>
          <a:prstGeom prst="downArrow">
            <a:avLst/>
          </a:prstGeom>
          <a:solidFill>
            <a:srgbClr val="245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1259800" y="10469880"/>
            <a:ext cx="3383280" cy="256032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1300" b="0">
                <a:solidFill>
                  <a:srgbClr val="42576E"/>
                </a:solidFill>
                <a:latin typeface="Aptos"/>
              </a:rPr>
              <a:t>penalize z_max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007840" y="9144000"/>
            <a:ext cx="3017520" cy="109728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/>
            <a:r>
              <a:rPr sz="2600" b="1">
                <a:solidFill>
                  <a:srgbClr val="1D2A39"/>
                </a:solidFill>
                <a:latin typeface="Aptos Display"/>
              </a:rPr>
              <a:t>z_gt</a:t>
            </a:r>
            <a:br/>
            <a:r>
              <a:t>-&gt;</a:t>
            </a:r>
            <a:br/>
            <a:r>
              <a:t>z_max</a:t>
            </a:r>
          </a:p>
        </p:txBody>
      </p:sp>
      <p:sp>
        <p:nvSpPr>
          <p:cNvPr id="54" name="Chevron 53"/>
          <p:cNvSpPr/>
          <p:nvPr/>
        </p:nvSpPr>
        <p:spPr>
          <a:xfrm>
            <a:off x="17236440" y="7452360"/>
            <a:ext cx="2560320" cy="914400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Chevron 54"/>
          <p:cNvSpPr/>
          <p:nvPr/>
        </p:nvSpPr>
        <p:spPr>
          <a:xfrm>
            <a:off x="17236440" y="11887200"/>
            <a:ext cx="2560320" cy="914400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46920" y="13350240"/>
            <a:ext cx="8458200" cy="59436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1850" b="1">
                <a:solidFill>
                  <a:srgbClr val="42576E"/>
                </a:solidFill>
                <a:latin typeface="Aptos"/>
              </a:rPr>
              <a:t>LS regularizes the label target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339560" y="13350240"/>
            <a:ext cx="8229600" cy="59436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1850" b="1">
                <a:solidFill>
                  <a:srgbClr val="42576E"/>
                </a:solidFill>
                <a:latin typeface="Aptos"/>
              </a:rPr>
              <a:t>MaxSup regularizes the dominant prediction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" y="16184880"/>
            <a:ext cx="9144000" cy="64008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2900" b="1">
                <a:solidFill>
                  <a:srgbClr val="1D2A39"/>
                </a:solidFill>
                <a:latin typeface="Aptos Display"/>
              </a:rPr>
              <a:t>WHY THIS MATTERS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0" y="16962120"/>
            <a:ext cx="28346400" cy="27432"/>
          </a:xfrm>
          <a:prstGeom prst="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1014984" y="17574768"/>
            <a:ext cx="9006840" cy="5486400"/>
          </a:xfrm>
          <a:prstGeom prst="round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914400" y="17465040"/>
            <a:ext cx="9006840" cy="548640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1188720" y="17739360"/>
            <a:ext cx="1691640" cy="384048"/>
          </a:xfrm>
          <a:prstGeom prst="roundRect">
            <a:avLst>
              <a:gd name="adj" fmla="val 38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188720" y="17748504"/>
            <a:ext cx="1691640" cy="365759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PROBLEM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88720" y="18288000"/>
            <a:ext cx="8321040" cy="100584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2080" b="1">
                <a:solidFill>
                  <a:srgbClr val="1D2A39"/>
                </a:solidFill>
                <a:latin typeface="Aptos Display"/>
              </a:rPr>
              <a:t>Label Smoothing helps calibration, but can amplify errors on misclassified samples.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207008" y="19458432"/>
            <a:ext cx="8229600" cy="731520"/>
          </a:xfrm>
          <a:prstGeom prst="roundRect">
            <a:avLst/>
          </a:prstGeom>
          <a:solidFill>
            <a:srgbClr val="F8EFE4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1371600" y="19595592"/>
            <a:ext cx="347472" cy="457200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865376" y="19568160"/>
            <a:ext cx="7406640" cy="237744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550" b="1">
                <a:solidFill>
                  <a:srgbClr val="1D2A39"/>
                </a:solidFill>
                <a:latin typeface="Aptos Display"/>
              </a:rPr>
              <a:t>Wrong case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65376" y="19787616"/>
            <a:ext cx="7406640" cy="347472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420" b="0">
                <a:solidFill>
                  <a:srgbClr val="42576E"/>
                </a:solidFill>
                <a:latin typeface="Aptos"/>
              </a:rPr>
              <a:t>pushes down the true class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207008" y="20281392"/>
            <a:ext cx="8229600" cy="73152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1371600" y="20418552"/>
            <a:ext cx="347472" cy="457200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865376" y="20391120"/>
            <a:ext cx="7406640" cy="237744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550" b="1">
                <a:solidFill>
                  <a:srgbClr val="1D2A39"/>
                </a:solidFill>
                <a:latin typeface="Aptos Display"/>
              </a:rPr>
              <a:t>Training signal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865376" y="20610576"/>
            <a:ext cx="7406640" cy="347472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420" b="0">
                <a:solidFill>
                  <a:srgbClr val="42576E"/>
                </a:solidFill>
                <a:latin typeface="Aptos"/>
              </a:rPr>
              <a:t>does not directly suppress the false top-1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207008" y="21104352"/>
            <a:ext cx="8229600" cy="731520"/>
          </a:xfrm>
          <a:prstGeom prst="roundRect">
            <a:avLst/>
          </a:prstGeom>
          <a:solidFill>
            <a:srgbClr val="F8EFE4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1371600" y="21241511"/>
            <a:ext cx="347472" cy="457200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865376" y="21214080"/>
            <a:ext cx="7406640" cy="237744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550" b="1">
                <a:solidFill>
                  <a:srgbClr val="1D2A39"/>
                </a:solidFill>
                <a:latin typeface="Aptos Display"/>
              </a:rPr>
              <a:t>Representation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865376" y="21433535"/>
            <a:ext cx="7406640" cy="347472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420" b="0">
                <a:solidFill>
                  <a:srgbClr val="42576E"/>
                </a:solidFill>
                <a:latin typeface="Aptos"/>
              </a:rPr>
              <a:t>tighter clusters, less class variation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25296" y="21963888"/>
            <a:ext cx="8138160" cy="54864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480" b="1">
                <a:solidFill>
                  <a:srgbClr val="6E7E8F"/>
                </a:solidFill>
                <a:latin typeface="Aptos"/>
              </a:rPr>
              <a:t>The failure mode is specific and memorable: wrong prediction + wrong regularization target.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707624" y="17574768"/>
            <a:ext cx="9006840" cy="5486400"/>
          </a:xfrm>
          <a:prstGeom prst="round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10607040" y="17465040"/>
            <a:ext cx="9006840" cy="548640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10881360" y="17739360"/>
            <a:ext cx="1645920" cy="384048"/>
          </a:xfrm>
          <a:prstGeom prst="roundRect">
            <a:avLst>
              <a:gd name="adj" fmla="val 38000"/>
            </a:avLst>
          </a:prstGeom>
          <a:solidFill>
            <a:srgbClr val="245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0881360" y="17748504"/>
            <a:ext cx="1645920" cy="365759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METHOD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881360" y="18288000"/>
            <a:ext cx="8138160" cy="56692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2200" b="1">
                <a:solidFill>
                  <a:srgbClr val="1D2A39"/>
                </a:solidFill>
                <a:latin typeface="Aptos Display"/>
              </a:rPr>
              <a:t>One substitution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881360" y="18818352"/>
            <a:ext cx="8138160" cy="56692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2600" b="1">
                <a:solidFill>
                  <a:srgbClr val="2458B3"/>
                </a:solidFill>
                <a:latin typeface="Aptos Display"/>
              </a:rPr>
              <a:t>z_gt  -&gt;  z_max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881360" y="19458432"/>
            <a:ext cx="8138160" cy="9144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720" b="0">
                <a:solidFill>
                  <a:srgbClr val="42576E"/>
                </a:solidFill>
                <a:latin typeface="Aptos"/>
              </a:rPr>
              <a:t>L_LS = alpha (z_gt - mean(z))</a:t>
            </a:r>
            <a:br/>
            <a:r>
              <a:t>L_MaxSup = alpha (z_max - mean(z))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0927080" y="20592288"/>
            <a:ext cx="3840480" cy="1298448"/>
          </a:xfrm>
          <a:prstGeom prst="roundRect">
            <a:avLst/>
          </a:prstGeom>
          <a:solidFill>
            <a:srgbClr val="F8EFE4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1091672" y="20738592"/>
            <a:ext cx="3511296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800" b="1">
                <a:solidFill>
                  <a:srgbClr val="1D2A39"/>
                </a:solidFill>
                <a:latin typeface="Aptos Display"/>
              </a:rPr>
              <a:t>Correct case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091672" y="21250656"/>
            <a:ext cx="3511296" cy="475487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550" b="0">
                <a:solidFill>
                  <a:srgbClr val="42576E"/>
                </a:solidFill>
                <a:latin typeface="Aptos"/>
              </a:rPr>
              <a:t>acts like confidence regularization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5133320" y="20592288"/>
            <a:ext cx="3840480" cy="1298448"/>
          </a:xfrm>
          <a:prstGeom prst="roundRect">
            <a:avLst/>
          </a:prstGeom>
          <a:solidFill>
            <a:srgbClr val="EAF1FB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5297912" y="20738592"/>
            <a:ext cx="3511296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800" b="1">
                <a:solidFill>
                  <a:srgbClr val="1D2A39"/>
                </a:solidFill>
                <a:latin typeface="Aptos Display"/>
              </a:rPr>
              <a:t>Wrong case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5297912" y="21250656"/>
            <a:ext cx="3511296" cy="475487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550" b="0">
                <a:solidFill>
                  <a:srgbClr val="42576E"/>
                </a:solidFill>
                <a:latin typeface="Aptos"/>
              </a:rPr>
              <a:t>suppresses the dominant wrong logit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899648" y="22110192"/>
            <a:ext cx="8138160" cy="41148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550" b="1">
                <a:solidFill>
                  <a:srgbClr val="6E7E8F"/>
                </a:solidFill>
                <a:latin typeface="Aptos"/>
              </a:rPr>
              <a:t>Simple change. Consistent signal.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20400264" y="17574768"/>
            <a:ext cx="9052560" cy="5486400"/>
          </a:xfrm>
          <a:prstGeom prst="round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ounded Rectangle 92"/>
          <p:cNvSpPr/>
          <p:nvPr/>
        </p:nvSpPr>
        <p:spPr>
          <a:xfrm>
            <a:off x="20299680" y="17465040"/>
            <a:ext cx="9052560" cy="548640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20574000" y="17739360"/>
            <a:ext cx="1965960" cy="384048"/>
          </a:xfrm>
          <a:prstGeom prst="roundRect">
            <a:avLst>
              <a:gd name="adj" fmla="val 38000"/>
            </a:avLst>
          </a:prstGeom>
          <a:solidFill>
            <a:srgbClr val="2A7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20574000" y="17748504"/>
            <a:ext cx="1965960" cy="365759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TAKEAWAY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0574000" y="18288000"/>
            <a:ext cx="8229600" cy="96012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2080" b="1">
                <a:solidFill>
                  <a:srgbClr val="1D2A39"/>
                </a:solidFill>
                <a:latin typeface="Aptos Display"/>
              </a:rPr>
              <a:t>Suppress the overconfident wrong class, not the ground truth.</a:t>
            </a:r>
          </a:p>
        </p:txBody>
      </p:sp>
      <p:sp>
        <p:nvSpPr>
          <p:cNvPr id="97" name="Oval 96"/>
          <p:cNvSpPr/>
          <p:nvPr/>
        </p:nvSpPr>
        <p:spPr>
          <a:xfrm>
            <a:off x="20665440" y="19549872"/>
            <a:ext cx="237744" cy="237744"/>
          </a:xfrm>
          <a:prstGeom prst="ellipse">
            <a:avLst/>
          </a:prstGeom>
          <a:solidFill>
            <a:srgbClr val="2A7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20994624" y="19522440"/>
            <a:ext cx="7626096" cy="310896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550" b="1">
                <a:solidFill>
                  <a:srgbClr val="42576E"/>
                </a:solidFill>
                <a:latin typeface="Aptos"/>
              </a:rPr>
              <a:t>same logic on correct and wrong samples</a:t>
            </a:r>
          </a:p>
        </p:txBody>
      </p:sp>
      <p:sp>
        <p:nvSpPr>
          <p:cNvPr id="99" name="Oval 98"/>
          <p:cNvSpPr/>
          <p:nvPr/>
        </p:nvSpPr>
        <p:spPr>
          <a:xfrm>
            <a:off x="20665440" y="20235672"/>
            <a:ext cx="237744" cy="237744"/>
          </a:xfrm>
          <a:prstGeom prst="ellipse">
            <a:avLst/>
          </a:prstGeom>
          <a:solidFill>
            <a:srgbClr val="2A7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20994624" y="20208240"/>
            <a:ext cx="7626096" cy="310896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550" b="1">
                <a:solidFill>
                  <a:srgbClr val="42576E"/>
                </a:solidFill>
                <a:latin typeface="Aptos"/>
              </a:rPr>
              <a:t>richer features for transfer and segmentation</a:t>
            </a:r>
          </a:p>
        </p:txBody>
      </p:sp>
      <p:sp>
        <p:nvSpPr>
          <p:cNvPr id="101" name="Oval 100"/>
          <p:cNvSpPr/>
          <p:nvPr/>
        </p:nvSpPr>
        <p:spPr>
          <a:xfrm>
            <a:off x="20665440" y="20921472"/>
            <a:ext cx="237744" cy="237744"/>
          </a:xfrm>
          <a:prstGeom prst="ellipse">
            <a:avLst/>
          </a:prstGeom>
          <a:solidFill>
            <a:srgbClr val="2A7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20994624" y="20894040"/>
            <a:ext cx="7626096" cy="310896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550" b="1">
                <a:solidFill>
                  <a:srgbClr val="42576E"/>
                </a:solidFill>
                <a:latin typeface="Aptos"/>
              </a:rPr>
              <a:t>simple loss swap with low overhead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0647152" y="21744432"/>
            <a:ext cx="8092440" cy="59436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480" b="0">
                <a:solidFill>
                  <a:srgbClr val="6E7E8F"/>
                </a:solidFill>
                <a:latin typeface="Aptos"/>
              </a:rPr>
              <a:t>This is the one-sentence ending people should remember when they walk away.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14400" y="23774400"/>
            <a:ext cx="9144000" cy="64008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2900" b="1">
                <a:solidFill>
                  <a:srgbClr val="1D2A39"/>
                </a:solidFill>
                <a:latin typeface="Aptos Display"/>
              </a:rPr>
              <a:t>MAIN RESULTS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14400" y="24524208"/>
            <a:ext cx="28346400" cy="27432"/>
          </a:xfrm>
          <a:prstGeom prst="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1014984" y="25118568"/>
            <a:ext cx="8961120" cy="4754880"/>
          </a:xfrm>
          <a:prstGeom prst="round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ounded Rectangle 106"/>
          <p:cNvSpPr/>
          <p:nvPr/>
        </p:nvSpPr>
        <p:spPr>
          <a:xfrm>
            <a:off x="914400" y="25008840"/>
            <a:ext cx="8961120" cy="475488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1133856" y="25210008"/>
            <a:ext cx="1828800" cy="384048"/>
          </a:xfrm>
          <a:prstGeom prst="roundRect">
            <a:avLst>
              <a:gd name="adj" fmla="val 38000"/>
            </a:avLst>
          </a:prstGeom>
          <a:solidFill>
            <a:srgbClr val="245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133856" y="25219152"/>
            <a:ext cx="1828800" cy="365759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DeiT-Small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97280" y="25722072"/>
            <a:ext cx="8595360" cy="65836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3000" b="1">
                <a:solidFill>
                  <a:srgbClr val="1D2A39"/>
                </a:solidFill>
                <a:latin typeface="Aptos Display"/>
              </a:rPr>
              <a:t>76.49 &gt; 76.08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97280" y="26426160"/>
            <a:ext cx="8595360" cy="315468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700" b="0">
                <a:solidFill>
                  <a:srgbClr val="42576E"/>
                </a:solidFill>
                <a:latin typeface="Aptos"/>
              </a:rPr>
              <a:t>Transformer result.</a:t>
            </a:r>
            <a:br/>
            <a:r>
              <a:t>Easy poster message: not CNN-specific.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298448" y="26910792"/>
            <a:ext cx="1325880" cy="219456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250" b="1">
                <a:solidFill>
                  <a:srgbClr val="6E7E8F"/>
                </a:solidFill>
                <a:latin typeface="Aptos"/>
              </a:rPr>
              <a:t>Base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2715768" y="26965656"/>
            <a:ext cx="4983480" cy="146304"/>
          </a:xfrm>
          <a:prstGeom prst="roundRect">
            <a:avLst/>
          </a:prstGeom>
          <a:solidFill>
            <a:srgbClr val="F8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ounded Rectangle 113"/>
          <p:cNvSpPr/>
          <p:nvPr/>
        </p:nvSpPr>
        <p:spPr>
          <a:xfrm>
            <a:off x="2715768" y="26965656"/>
            <a:ext cx="4814559" cy="14630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7772400" y="26892504"/>
            <a:ext cx="594360" cy="219456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r"/>
            <a:r>
              <a:rPr sz="1250" b="1">
                <a:solidFill>
                  <a:srgbClr val="42576E"/>
                </a:solidFill>
                <a:latin typeface="Aptos"/>
              </a:rPr>
              <a:t>74.39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298448" y="27441144"/>
            <a:ext cx="1325880" cy="219456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250" b="1">
                <a:solidFill>
                  <a:srgbClr val="6E7E8F"/>
                </a:solidFill>
                <a:latin typeface="Aptos"/>
              </a:rPr>
              <a:t>LS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2715768" y="27496007"/>
            <a:ext cx="4983480" cy="146304"/>
          </a:xfrm>
          <a:prstGeom prst="roundRect">
            <a:avLst/>
          </a:prstGeom>
          <a:solidFill>
            <a:srgbClr val="F8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ounded Rectangle 117"/>
          <p:cNvSpPr/>
          <p:nvPr/>
        </p:nvSpPr>
        <p:spPr>
          <a:xfrm>
            <a:off x="2715768" y="27496007"/>
            <a:ext cx="4923937" cy="146304"/>
          </a:xfrm>
          <a:prstGeom prst="roundRect">
            <a:avLst/>
          </a:prstGeom>
          <a:solidFill>
            <a:srgbClr val="CFE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7772400" y="27422856"/>
            <a:ext cx="594360" cy="219456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r"/>
            <a:r>
              <a:rPr sz="1250" b="1">
                <a:solidFill>
                  <a:srgbClr val="42576E"/>
                </a:solidFill>
                <a:latin typeface="Aptos"/>
              </a:rPr>
              <a:t>76.08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298448" y="27971496"/>
            <a:ext cx="1325880" cy="219456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250" b="1">
                <a:solidFill>
                  <a:srgbClr val="6E7E8F"/>
                </a:solidFill>
                <a:latin typeface="Aptos"/>
              </a:rPr>
              <a:t>MaxSup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2715768" y="28026360"/>
            <a:ext cx="4983480" cy="146304"/>
          </a:xfrm>
          <a:prstGeom prst="roundRect">
            <a:avLst/>
          </a:prstGeom>
          <a:solidFill>
            <a:srgbClr val="F8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ounded Rectangle 121"/>
          <p:cNvSpPr/>
          <p:nvPr/>
        </p:nvSpPr>
        <p:spPr>
          <a:xfrm>
            <a:off x="2715768" y="28026360"/>
            <a:ext cx="4950472" cy="146304"/>
          </a:xfrm>
          <a:prstGeom prst="roundRect">
            <a:avLst/>
          </a:prstGeom>
          <a:solidFill>
            <a:srgbClr val="245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7772400" y="27953208"/>
            <a:ext cx="594360" cy="219456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r"/>
            <a:r>
              <a:rPr sz="1250" b="1">
                <a:solidFill>
                  <a:srgbClr val="42576E"/>
                </a:solidFill>
                <a:latin typeface="Aptos"/>
              </a:rPr>
              <a:t>76.49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298448" y="28693872"/>
            <a:ext cx="7315200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530" b="1">
                <a:solidFill>
                  <a:srgbClr val="2458B3"/>
                </a:solidFill>
                <a:latin typeface="Aptos"/>
              </a:rPr>
              <a:t>+0.41 over LS on DeiT-Small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10753344" y="25118568"/>
            <a:ext cx="8961120" cy="4754880"/>
          </a:xfrm>
          <a:prstGeom prst="round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ounded Rectangle 125"/>
          <p:cNvSpPr/>
          <p:nvPr/>
        </p:nvSpPr>
        <p:spPr>
          <a:xfrm>
            <a:off x="10652760" y="25008840"/>
            <a:ext cx="8961120" cy="475488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ounded Rectangle 126"/>
          <p:cNvSpPr/>
          <p:nvPr/>
        </p:nvSpPr>
        <p:spPr>
          <a:xfrm>
            <a:off x="10872216" y="25210008"/>
            <a:ext cx="1828800" cy="384048"/>
          </a:xfrm>
          <a:prstGeom prst="roundRect">
            <a:avLst>
              <a:gd name="adj" fmla="val 38000"/>
            </a:avLst>
          </a:prstGeom>
          <a:solidFill>
            <a:srgbClr val="2A7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10872216" y="25219152"/>
            <a:ext cx="1828800" cy="365759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ADE20K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835640" y="25722072"/>
            <a:ext cx="8595360" cy="65836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3000" b="1">
                <a:solidFill>
                  <a:srgbClr val="1D2A39"/>
                </a:solidFill>
                <a:latin typeface="Aptos Display"/>
              </a:rPr>
              <a:t>42.8 &gt; 42.4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835640" y="26426160"/>
            <a:ext cx="8595360" cy="315468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700" b="0">
                <a:solidFill>
                  <a:srgbClr val="42576E"/>
                </a:solidFill>
                <a:latin typeface="Aptos"/>
              </a:rPr>
              <a:t>Segmentation result.</a:t>
            </a:r>
            <a:br/>
            <a:r>
              <a:t>Backbone features transfer better.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1036808" y="26910792"/>
            <a:ext cx="1325880" cy="219456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250" b="1">
                <a:solidFill>
                  <a:srgbClr val="6E7E8F"/>
                </a:solidFill>
                <a:latin typeface="Aptos"/>
              </a:rPr>
              <a:t>Base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12454128" y="26965656"/>
            <a:ext cx="4983480" cy="146304"/>
          </a:xfrm>
          <a:prstGeom prst="roundRect">
            <a:avLst/>
          </a:prstGeom>
          <a:solidFill>
            <a:srgbClr val="F8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ounded Rectangle 132"/>
          <p:cNvSpPr/>
          <p:nvPr/>
        </p:nvSpPr>
        <p:spPr>
          <a:xfrm>
            <a:off x="12454128" y="26965656"/>
            <a:ext cx="4879174" cy="14630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17510760" y="26892504"/>
            <a:ext cx="594360" cy="219456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r"/>
            <a:r>
              <a:rPr sz="1250" b="1">
                <a:solidFill>
                  <a:srgbClr val="42576E"/>
                </a:solidFill>
                <a:latin typeface="Aptos"/>
              </a:rPr>
              <a:t>42.10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1036808" y="27441144"/>
            <a:ext cx="1325880" cy="219456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250" b="1">
                <a:solidFill>
                  <a:srgbClr val="6E7E8F"/>
                </a:solidFill>
                <a:latin typeface="Aptos"/>
              </a:rPr>
              <a:t>LS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12454128" y="27496007"/>
            <a:ext cx="4983480" cy="146304"/>
          </a:xfrm>
          <a:prstGeom prst="roundRect">
            <a:avLst/>
          </a:prstGeom>
          <a:solidFill>
            <a:srgbClr val="F8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ounded Rectangle 136"/>
          <p:cNvSpPr/>
          <p:nvPr/>
        </p:nvSpPr>
        <p:spPr>
          <a:xfrm>
            <a:off x="12454128" y="27496007"/>
            <a:ext cx="4913943" cy="146304"/>
          </a:xfrm>
          <a:prstGeom prst="roundRect">
            <a:avLst/>
          </a:prstGeom>
          <a:solidFill>
            <a:srgbClr val="DD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7510760" y="27422856"/>
            <a:ext cx="594360" cy="219456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r"/>
            <a:r>
              <a:rPr sz="1250" b="1">
                <a:solidFill>
                  <a:srgbClr val="42576E"/>
                </a:solidFill>
                <a:latin typeface="Aptos"/>
              </a:rPr>
              <a:t>42.40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1036808" y="27971496"/>
            <a:ext cx="1325880" cy="219456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250" b="1">
                <a:solidFill>
                  <a:srgbClr val="6E7E8F"/>
                </a:solidFill>
                <a:latin typeface="Aptos"/>
              </a:rPr>
              <a:t>MaxSup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12454128" y="28026360"/>
            <a:ext cx="4983480" cy="146304"/>
          </a:xfrm>
          <a:prstGeom prst="roundRect">
            <a:avLst/>
          </a:prstGeom>
          <a:solidFill>
            <a:srgbClr val="F8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ounded Rectangle 140"/>
          <p:cNvSpPr/>
          <p:nvPr/>
        </p:nvSpPr>
        <p:spPr>
          <a:xfrm>
            <a:off x="12454128" y="28026360"/>
            <a:ext cx="4960301" cy="146304"/>
          </a:xfrm>
          <a:prstGeom prst="roundRect">
            <a:avLst/>
          </a:prstGeom>
          <a:solidFill>
            <a:srgbClr val="2A7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17510760" y="27953208"/>
            <a:ext cx="594360" cy="219456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r"/>
            <a:r>
              <a:rPr sz="1250" b="1">
                <a:solidFill>
                  <a:srgbClr val="42576E"/>
                </a:solidFill>
                <a:latin typeface="Aptos"/>
              </a:rPr>
              <a:t>42.80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1036808" y="28693872"/>
            <a:ext cx="7315200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530" b="1">
                <a:solidFill>
                  <a:srgbClr val="2A7F62"/>
                </a:solidFill>
                <a:latin typeface="Aptos"/>
              </a:rPr>
              <a:t>Backbone gains transfer to segmentation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20491704" y="25118568"/>
            <a:ext cx="8961120" cy="4754880"/>
          </a:xfrm>
          <a:prstGeom prst="round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ounded Rectangle 144"/>
          <p:cNvSpPr/>
          <p:nvPr/>
        </p:nvSpPr>
        <p:spPr>
          <a:xfrm>
            <a:off x="20391120" y="25008840"/>
            <a:ext cx="8961120" cy="475488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ounded Rectangle 145"/>
          <p:cNvSpPr/>
          <p:nvPr/>
        </p:nvSpPr>
        <p:spPr>
          <a:xfrm>
            <a:off x="20610576" y="25210008"/>
            <a:ext cx="1828800" cy="384048"/>
          </a:xfrm>
          <a:prstGeom prst="roundRect">
            <a:avLst>
              <a:gd name="adj" fmla="val 38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20610576" y="25219152"/>
            <a:ext cx="1828800" cy="365759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Grad-CAM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0574000" y="25722072"/>
            <a:ext cx="8595360" cy="65836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3000" b="1">
                <a:solidFill>
                  <a:srgbClr val="1D2A39"/>
                </a:solidFill>
                <a:latin typeface="Aptos Display"/>
              </a:rPr>
              <a:t>more focused attention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0574000" y="26426160"/>
            <a:ext cx="8595360" cy="315468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700" b="0">
                <a:solidFill>
                  <a:srgbClr val="42576E"/>
                </a:solidFill>
                <a:latin typeface="Aptos"/>
              </a:rPr>
              <a:t>More object-focused reasoning.</a:t>
            </a:r>
            <a:br/>
            <a:r>
              <a:t>Less background distraction.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20756880" y="26791920"/>
            <a:ext cx="2560320" cy="1188720"/>
          </a:xfrm>
          <a:prstGeom prst="roundRect">
            <a:avLst/>
          </a:prstGeom>
          <a:solidFill>
            <a:srgbClr val="F8EFE4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20921472" y="26938224"/>
            <a:ext cx="2231136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800" b="1">
                <a:solidFill>
                  <a:srgbClr val="1D2A39"/>
                </a:solidFill>
                <a:latin typeface="Aptos Display"/>
              </a:rPr>
              <a:t>LS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0921472" y="27450288"/>
            <a:ext cx="2231136" cy="36576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550" b="0">
                <a:solidFill>
                  <a:srgbClr val="42576E"/>
                </a:solidFill>
                <a:latin typeface="Aptos"/>
              </a:rPr>
              <a:t>background</a:t>
            </a:r>
            <a:br/>
            <a:r>
              <a:t>shortcut bias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23500080" y="26791920"/>
            <a:ext cx="2560320" cy="1188720"/>
          </a:xfrm>
          <a:prstGeom prst="roundRect">
            <a:avLst/>
          </a:prstGeom>
          <a:solidFill>
            <a:srgbClr val="EAF1FB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23664672" y="26938224"/>
            <a:ext cx="2231136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800" b="1">
                <a:solidFill>
                  <a:srgbClr val="1D2A39"/>
                </a:solidFill>
                <a:latin typeface="Aptos Display"/>
              </a:rPr>
              <a:t>MaxSup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3664672" y="27450288"/>
            <a:ext cx="2231136" cy="36576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550" b="0">
                <a:solidFill>
                  <a:srgbClr val="42576E"/>
                </a:solidFill>
                <a:latin typeface="Aptos"/>
              </a:rPr>
              <a:t>object body</a:t>
            </a:r>
            <a:br/>
            <a:r>
              <a:t>shape cues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26243280" y="26791920"/>
            <a:ext cx="2560320" cy="1188720"/>
          </a:xfrm>
          <a:prstGeom prst="roundRect">
            <a:avLst/>
          </a:prstGeom>
          <a:solidFill>
            <a:srgbClr val="DDF2EA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26407872" y="26938224"/>
            <a:ext cx="2231136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800" b="1">
                <a:solidFill>
                  <a:srgbClr val="1D2A39"/>
                </a:solidFill>
                <a:latin typeface="Aptos Display"/>
              </a:rPr>
              <a:t>Meaning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6407872" y="27450288"/>
            <a:ext cx="2231136" cy="36576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550" b="0">
                <a:solidFill>
                  <a:srgbClr val="42576E"/>
                </a:solidFill>
                <a:latin typeface="Aptos"/>
              </a:rPr>
              <a:t>clearer visual</a:t>
            </a:r>
            <a:br/>
            <a:r>
              <a:t>reasoning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0756880" y="28510992"/>
            <a:ext cx="8046720" cy="65836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460" b="1">
                <a:solidFill>
                  <a:srgbClr val="6E7E8F"/>
                </a:solidFill>
                <a:latin typeface="Aptos"/>
              </a:rPr>
              <a:t>Interpretability becomes easier to explain because the model attends to the object itself.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14400" y="30540960"/>
            <a:ext cx="12070080" cy="64008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2900" b="1">
                <a:solidFill>
                  <a:srgbClr val="1D2A39"/>
                </a:solidFill>
                <a:latin typeface="Aptos Display"/>
              </a:rPr>
              <a:t>SUPPORTING EVIDENCE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14400" y="31272480"/>
            <a:ext cx="28346400" cy="27432"/>
          </a:xfrm>
          <a:prstGeom prst="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ounded Rectangle 161"/>
          <p:cNvSpPr/>
          <p:nvPr/>
        </p:nvSpPr>
        <p:spPr>
          <a:xfrm>
            <a:off x="1014984" y="31885127"/>
            <a:ext cx="9144000" cy="7315200"/>
          </a:xfrm>
          <a:prstGeom prst="round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ounded Rectangle 162"/>
          <p:cNvSpPr/>
          <p:nvPr/>
        </p:nvSpPr>
        <p:spPr>
          <a:xfrm>
            <a:off x="914400" y="31775400"/>
            <a:ext cx="9144000" cy="731520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ounded Rectangle 163"/>
          <p:cNvSpPr/>
          <p:nvPr/>
        </p:nvSpPr>
        <p:spPr>
          <a:xfrm>
            <a:off x="1234440" y="32049719"/>
            <a:ext cx="2377440" cy="384048"/>
          </a:xfrm>
          <a:prstGeom prst="roundRect">
            <a:avLst>
              <a:gd name="adj" fmla="val 38000"/>
            </a:avLst>
          </a:prstGeom>
          <a:solidFill>
            <a:srgbClr val="F4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1234440" y="32058863"/>
            <a:ext cx="2377440" cy="365759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/>
            <a:r>
              <a:rPr sz="1400" b="1">
                <a:solidFill>
                  <a:srgbClr val="1D2A39"/>
                </a:solidFill>
                <a:latin typeface="Aptos"/>
              </a:rPr>
              <a:t>REPRESENTATION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234440" y="32598360"/>
            <a:ext cx="8321040" cy="9144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2400" b="1">
                <a:solidFill>
                  <a:srgbClr val="1D2A39"/>
                </a:solidFill>
                <a:latin typeface="Aptos Display"/>
              </a:rPr>
              <a:t>Better feature geometry</a:t>
            </a:r>
          </a:p>
        </p:txBody>
      </p:sp>
      <p:sp>
        <p:nvSpPr>
          <p:cNvPr id="167" name="Oval 166"/>
          <p:cNvSpPr/>
          <p:nvPr/>
        </p:nvSpPr>
        <p:spPr>
          <a:xfrm>
            <a:off x="1417320" y="33832800"/>
            <a:ext cx="2560320" cy="1600200"/>
          </a:xfrm>
          <a:prstGeom prst="ellipse">
            <a:avLst/>
          </a:prstGeom>
          <a:solidFill>
            <a:srgbClr val="FDE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Oval 167"/>
          <p:cNvSpPr/>
          <p:nvPr/>
        </p:nvSpPr>
        <p:spPr>
          <a:xfrm>
            <a:off x="2331720" y="34527744"/>
            <a:ext cx="100584" cy="100584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Oval 168"/>
          <p:cNvSpPr/>
          <p:nvPr/>
        </p:nvSpPr>
        <p:spPr>
          <a:xfrm>
            <a:off x="2404872" y="34600896"/>
            <a:ext cx="100584" cy="100584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Oval 169"/>
          <p:cNvSpPr/>
          <p:nvPr/>
        </p:nvSpPr>
        <p:spPr>
          <a:xfrm>
            <a:off x="2286000" y="34655760"/>
            <a:ext cx="100584" cy="100584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Oval 170"/>
          <p:cNvSpPr/>
          <p:nvPr/>
        </p:nvSpPr>
        <p:spPr>
          <a:xfrm>
            <a:off x="2459736" y="34491168"/>
            <a:ext cx="100584" cy="100584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Oval 171"/>
          <p:cNvSpPr/>
          <p:nvPr/>
        </p:nvSpPr>
        <p:spPr>
          <a:xfrm>
            <a:off x="2359152" y="34728912"/>
            <a:ext cx="100584" cy="100584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Oval 172"/>
          <p:cNvSpPr/>
          <p:nvPr/>
        </p:nvSpPr>
        <p:spPr>
          <a:xfrm>
            <a:off x="2478024" y="34619184"/>
            <a:ext cx="100584" cy="100584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Oval 173"/>
          <p:cNvSpPr/>
          <p:nvPr/>
        </p:nvSpPr>
        <p:spPr>
          <a:xfrm>
            <a:off x="4617720" y="33832800"/>
            <a:ext cx="2560320" cy="1600200"/>
          </a:xfrm>
          <a:prstGeom prst="ellipse">
            <a:avLst/>
          </a:prstGeom>
          <a:solidFill>
            <a:srgbClr val="DD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Oval 174"/>
          <p:cNvSpPr/>
          <p:nvPr/>
        </p:nvSpPr>
        <p:spPr>
          <a:xfrm>
            <a:off x="5120640" y="34244280"/>
            <a:ext cx="100584" cy="100584"/>
          </a:xfrm>
          <a:prstGeom prst="ellipse">
            <a:avLst/>
          </a:prstGeom>
          <a:solidFill>
            <a:srgbClr val="2A7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Oval 175"/>
          <p:cNvSpPr/>
          <p:nvPr/>
        </p:nvSpPr>
        <p:spPr>
          <a:xfrm>
            <a:off x="5458968" y="34472880"/>
            <a:ext cx="100584" cy="100584"/>
          </a:xfrm>
          <a:prstGeom prst="ellipse">
            <a:avLst/>
          </a:prstGeom>
          <a:solidFill>
            <a:srgbClr val="2A7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Oval 176"/>
          <p:cNvSpPr/>
          <p:nvPr/>
        </p:nvSpPr>
        <p:spPr>
          <a:xfrm>
            <a:off x="5733288" y="34344864"/>
            <a:ext cx="100584" cy="100584"/>
          </a:xfrm>
          <a:prstGeom prst="ellipse">
            <a:avLst/>
          </a:prstGeom>
          <a:solidFill>
            <a:srgbClr val="2A7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Oval 177"/>
          <p:cNvSpPr/>
          <p:nvPr/>
        </p:nvSpPr>
        <p:spPr>
          <a:xfrm>
            <a:off x="5879592" y="34655760"/>
            <a:ext cx="100584" cy="100584"/>
          </a:xfrm>
          <a:prstGeom prst="ellipse">
            <a:avLst/>
          </a:prstGeom>
          <a:solidFill>
            <a:srgbClr val="2A7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Oval 178"/>
          <p:cNvSpPr/>
          <p:nvPr/>
        </p:nvSpPr>
        <p:spPr>
          <a:xfrm>
            <a:off x="5367528" y="34792920"/>
            <a:ext cx="100584" cy="100584"/>
          </a:xfrm>
          <a:prstGeom prst="ellipse">
            <a:avLst/>
          </a:prstGeom>
          <a:solidFill>
            <a:srgbClr val="2A7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Oval 179"/>
          <p:cNvSpPr/>
          <p:nvPr/>
        </p:nvSpPr>
        <p:spPr>
          <a:xfrm>
            <a:off x="6062472" y="34399728"/>
            <a:ext cx="100584" cy="100584"/>
          </a:xfrm>
          <a:prstGeom prst="ellipse">
            <a:avLst/>
          </a:prstGeom>
          <a:solidFill>
            <a:srgbClr val="2A7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1325880" y="35570160"/>
            <a:ext cx="2926080" cy="36576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1500" b="1">
                <a:solidFill>
                  <a:srgbClr val="E76F51"/>
                </a:solidFill>
                <a:latin typeface="Aptos"/>
              </a:rPr>
              <a:t>LS: collapse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4526280" y="35570160"/>
            <a:ext cx="2926080" cy="36576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1500" b="1">
                <a:solidFill>
                  <a:srgbClr val="2A7F62"/>
                </a:solidFill>
                <a:latin typeface="Aptos"/>
              </a:rPr>
              <a:t>MaxSup: richer spread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234440" y="36576000"/>
            <a:ext cx="8229600" cy="192024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700" b="0">
                <a:solidFill>
                  <a:srgbClr val="42576E"/>
                </a:solidFill>
                <a:latin typeface="Aptos"/>
              </a:rPr>
              <a:t>Use Table 2 here.</a:t>
            </a:r>
            <a:br/>
            <a:r>
              <a:t>Same class should not collapse too much.</a:t>
            </a:r>
            <a:br/>
            <a:r>
              <a:t>Different classes should stay separable.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10661904" y="31885127"/>
            <a:ext cx="9144000" cy="7315200"/>
          </a:xfrm>
          <a:prstGeom prst="round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ounded Rectangle 184"/>
          <p:cNvSpPr/>
          <p:nvPr/>
        </p:nvSpPr>
        <p:spPr>
          <a:xfrm>
            <a:off x="10561320" y="31775400"/>
            <a:ext cx="9144000" cy="731520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ounded Rectangle 185"/>
          <p:cNvSpPr/>
          <p:nvPr/>
        </p:nvSpPr>
        <p:spPr>
          <a:xfrm>
            <a:off x="10881360" y="32049719"/>
            <a:ext cx="2148840" cy="384048"/>
          </a:xfrm>
          <a:prstGeom prst="roundRect">
            <a:avLst>
              <a:gd name="adj" fmla="val 38000"/>
            </a:avLst>
          </a:prstGeom>
          <a:solidFill>
            <a:srgbClr val="245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10881360" y="32058863"/>
            <a:ext cx="2148840" cy="365759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DOWNSTREAM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0881360" y="32598360"/>
            <a:ext cx="8229600" cy="9144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2400" b="1">
                <a:solidFill>
                  <a:srgbClr val="1D2A39"/>
                </a:solidFill>
                <a:latin typeface="Aptos Display"/>
              </a:rPr>
              <a:t>Not only classification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10927080" y="33787080"/>
            <a:ext cx="3886200" cy="1874519"/>
          </a:xfrm>
          <a:prstGeom prst="roundRect">
            <a:avLst/>
          </a:prstGeom>
          <a:solidFill>
            <a:srgbClr val="F8EFE4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11091672" y="33933384"/>
            <a:ext cx="3557016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800" b="1">
                <a:solidFill>
                  <a:srgbClr val="1D2A39"/>
                </a:solidFill>
                <a:latin typeface="Aptos Display"/>
              </a:rPr>
              <a:t>Fine-grained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1091672" y="34445448"/>
            <a:ext cx="3557016" cy="105156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550" b="0">
                <a:solidFill>
                  <a:srgbClr val="42576E"/>
                </a:solidFill>
                <a:latin typeface="Aptos"/>
              </a:rPr>
              <a:t>CUB Birds and Stanford Cars.</a:t>
            </a:r>
            <a:br/>
            <a:r>
              <a:t>Captures subtle details better.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15179040" y="33787080"/>
            <a:ext cx="3886200" cy="1874519"/>
          </a:xfrm>
          <a:prstGeom prst="roundRect">
            <a:avLst/>
          </a:prstGeom>
          <a:solidFill>
            <a:srgbClr val="EAF1FB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15343632" y="33933384"/>
            <a:ext cx="3557016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800" b="1">
                <a:solidFill>
                  <a:srgbClr val="1D2A39"/>
                </a:solidFill>
                <a:latin typeface="Aptos Display"/>
              </a:rPr>
              <a:t>Long-tailed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5343632" y="34445448"/>
            <a:ext cx="3557016" cy="105156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550" b="0">
                <a:solidFill>
                  <a:srgbClr val="42576E"/>
                </a:solidFill>
                <a:latin typeface="Aptos"/>
              </a:rPr>
              <a:t>Better tradeoff across many-, medium-, and low-shot data.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10927080" y="35981640"/>
            <a:ext cx="3886200" cy="1874519"/>
          </a:xfrm>
          <a:prstGeom prst="roundRect">
            <a:avLst/>
          </a:prstGeom>
          <a:solidFill>
            <a:srgbClr val="DDF2EA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11091672" y="36127944"/>
            <a:ext cx="3557016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800" b="1">
                <a:solidFill>
                  <a:srgbClr val="1D2A39"/>
                </a:solidFill>
                <a:latin typeface="Aptos Display"/>
              </a:rPr>
              <a:t>OOD / Corruption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1091672" y="36640008"/>
            <a:ext cx="3557016" cy="105156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550" b="0">
                <a:solidFill>
                  <a:srgbClr val="42576E"/>
                </a:solidFill>
                <a:latin typeface="Aptos"/>
              </a:rPr>
              <a:t>Confidence is more reliable on CIFAR-10-C.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15179040" y="35981640"/>
            <a:ext cx="3886200" cy="1874519"/>
          </a:xfrm>
          <a:prstGeom prst="roundRect">
            <a:avLst/>
          </a:prstGeom>
          <a:solidFill>
            <a:srgbClr val="F8EFE4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98"/>
          <p:cNvSpPr txBox="1"/>
          <p:nvPr/>
        </p:nvSpPr>
        <p:spPr>
          <a:xfrm>
            <a:off x="15343632" y="36127944"/>
            <a:ext cx="3557016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800" b="1">
                <a:solidFill>
                  <a:srgbClr val="1D2A39"/>
                </a:solidFill>
                <a:latin typeface="Aptos Display"/>
              </a:rPr>
              <a:t>Segmentation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5343632" y="36640008"/>
            <a:ext cx="3557016" cy="105156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550" b="0">
                <a:solidFill>
                  <a:srgbClr val="42576E"/>
                </a:solidFill>
                <a:latin typeface="Aptos"/>
              </a:rPr>
              <a:t>Backbone features transfer better to ADE20K.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20308824" y="31885127"/>
            <a:ext cx="9052560" cy="7315200"/>
          </a:xfrm>
          <a:prstGeom prst="round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Rounded Rectangle 201"/>
          <p:cNvSpPr/>
          <p:nvPr/>
        </p:nvSpPr>
        <p:spPr>
          <a:xfrm>
            <a:off x="20208240" y="31775400"/>
            <a:ext cx="9052560" cy="731520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Rounded Rectangle 202"/>
          <p:cNvSpPr/>
          <p:nvPr/>
        </p:nvSpPr>
        <p:spPr>
          <a:xfrm>
            <a:off x="20528280" y="32049719"/>
            <a:ext cx="1965960" cy="384048"/>
          </a:xfrm>
          <a:prstGeom prst="roundRect">
            <a:avLst>
              <a:gd name="adj" fmla="val 38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TextBox 203"/>
          <p:cNvSpPr txBox="1"/>
          <p:nvPr/>
        </p:nvSpPr>
        <p:spPr>
          <a:xfrm>
            <a:off x="20528280" y="32058863"/>
            <a:ext cx="1965960" cy="365759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APPENDIX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20528280" y="32598360"/>
            <a:ext cx="8138160" cy="9144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2200" b="1">
                <a:solidFill>
                  <a:srgbClr val="1D2A39"/>
                </a:solidFill>
                <a:latin typeface="Aptos Display"/>
              </a:rPr>
              <a:t>Use only the appendix items that help your story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20574000" y="33832800"/>
            <a:ext cx="8046720" cy="1234440"/>
          </a:xfrm>
          <a:prstGeom prst="roundRect">
            <a:avLst/>
          </a:prstGeom>
          <a:solidFill>
            <a:srgbClr val="F8EFE4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TextBox 206"/>
          <p:cNvSpPr txBox="1"/>
          <p:nvPr/>
        </p:nvSpPr>
        <p:spPr>
          <a:xfrm>
            <a:off x="20738592" y="33979104"/>
            <a:ext cx="7717536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800" b="1">
                <a:solidFill>
                  <a:srgbClr val="1D2A39"/>
                </a:solidFill>
                <a:latin typeface="Aptos Display"/>
              </a:rPr>
              <a:t>Table 12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20738592" y="34491168"/>
            <a:ext cx="7717536" cy="41148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550" b="0">
                <a:solidFill>
                  <a:srgbClr val="42576E"/>
                </a:solidFill>
                <a:latin typeface="Aptos"/>
              </a:rPr>
              <a:t>Extended transfer learning. Very poster-friendly.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20574000" y="35295840"/>
            <a:ext cx="8046720" cy="1234440"/>
          </a:xfrm>
          <a:prstGeom prst="roundRect">
            <a:avLst/>
          </a:prstGeom>
          <a:solidFill>
            <a:srgbClr val="EAF1FB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20738592" y="35442144"/>
            <a:ext cx="7717536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800" b="1">
                <a:solidFill>
                  <a:srgbClr val="1D2A39"/>
                </a:solidFill>
                <a:latin typeface="Aptos Display"/>
              </a:rPr>
              <a:t>Table 13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20738592" y="35954208"/>
            <a:ext cx="7717536" cy="41148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550" b="0">
                <a:solidFill>
                  <a:srgbClr val="42576E"/>
                </a:solidFill>
                <a:latin typeface="Aptos"/>
              </a:rPr>
              <a:t>More baselines. Good for tough comparison questions.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20574000" y="36758880"/>
            <a:ext cx="8046720" cy="1234440"/>
          </a:xfrm>
          <a:prstGeom prst="roundRect">
            <a:avLst/>
          </a:prstGeom>
          <a:solidFill>
            <a:srgbClr val="DDF2EA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TextBox 212"/>
          <p:cNvSpPr txBox="1"/>
          <p:nvPr/>
        </p:nvSpPr>
        <p:spPr>
          <a:xfrm>
            <a:off x="20738592" y="36905184"/>
            <a:ext cx="7717536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800" b="1">
                <a:solidFill>
                  <a:srgbClr val="1D2A39"/>
                </a:solidFill>
                <a:latin typeface="Aptos Display"/>
              </a:rPr>
              <a:t>Table 16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20738592" y="37417248"/>
            <a:ext cx="7717536" cy="41148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550" b="0">
                <a:solidFill>
                  <a:srgbClr val="42576E"/>
                </a:solidFill>
                <a:latin typeface="Aptos"/>
              </a:rPr>
              <a:t>Compute efficiency. Almost no extra cost.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914400" y="39547800"/>
            <a:ext cx="28437840" cy="1828800"/>
          </a:xfrm>
          <a:prstGeom prst="roundRect">
            <a:avLst/>
          </a:prstGeom>
          <a:solidFill>
            <a:srgbClr val="F8EFE4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TextBox 215"/>
          <p:cNvSpPr txBox="1"/>
          <p:nvPr/>
        </p:nvSpPr>
        <p:spPr>
          <a:xfrm>
            <a:off x="1234440" y="39822120"/>
            <a:ext cx="11430000" cy="54864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2100" b="1">
                <a:solidFill>
                  <a:srgbClr val="1D2A39"/>
                </a:solidFill>
                <a:latin typeface="Aptos Display"/>
              </a:rPr>
              <a:t>simple  ·  low overhead  ·  stronger representations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13258800" y="39794688"/>
            <a:ext cx="7680960" cy="6858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700" b="1">
                <a:solidFill>
                  <a:srgbClr val="42576E"/>
                </a:solidFill>
                <a:latin typeface="Aptos"/>
              </a:rPr>
              <a:t>Demo QR: put your Streamlit simulator here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21579840" y="39822120"/>
            <a:ext cx="7315200" cy="73152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r"/>
            <a:r>
              <a:rPr sz="1700" b="0">
                <a:solidFill>
                  <a:srgbClr val="42576E"/>
                </a:solidFill>
                <a:latin typeface="Aptos"/>
              </a:rPr>
              <a:t>People stop for visuals.</a:t>
            </a:r>
            <a:br/>
            <a:r>
              <a:t>They stay for one clear idea.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537</Words>
  <Application>Microsoft Macintosh PowerPoint</Application>
  <PresentationFormat>自定义</PresentationFormat>
  <Paragraphs>115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jaydenyao@connect.hku.hk</cp:lastModifiedBy>
  <cp:revision>2</cp:revision>
  <dcterms:created xsi:type="dcterms:W3CDTF">2013-01-27T09:14:16Z</dcterms:created>
  <dcterms:modified xsi:type="dcterms:W3CDTF">2026-04-13T13:46:14Z</dcterms:modified>
  <cp:category/>
</cp:coreProperties>
</file>