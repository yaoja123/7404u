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0A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0" y="-2560320"/>
            <a:ext cx="10972800" cy="7315200"/>
          </a:xfrm>
          <a:prstGeom prst="ellipse">
            <a:avLst/>
          </a:prstGeom>
          <a:solidFill>
            <a:srgbClr val="2C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677120" y="-1828800"/>
            <a:ext cx="9144000" cy="658368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190720" y="31089600"/>
            <a:ext cx="11887200" cy="9144000"/>
          </a:xfrm>
          <a:prstGeom prst="ellipse">
            <a:avLst/>
          </a:prstGeom>
          <a:solidFill>
            <a:srgbClr val="2C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7863840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1155680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447520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7739360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1031200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4323040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7614880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0906719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4198560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7490400"/>
            <a:ext cx="28437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731520"/>
            <a:ext cx="22860" cy="41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731520"/>
            <a:ext cx="22860" cy="41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338559" y="731520"/>
            <a:ext cx="22860" cy="41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087600" y="731520"/>
            <a:ext cx="22860" cy="41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36639" y="731520"/>
            <a:ext cx="22860" cy="41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585680" y="731520"/>
            <a:ext cx="22860" cy="41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334719" y="731520"/>
            <a:ext cx="22860" cy="411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777240"/>
            <a:ext cx="4069080" cy="502920"/>
          </a:xfrm>
          <a:prstGeom prst="roundRect">
            <a:avLst>
              <a:gd name="adj" fmla="val 35000"/>
            </a:avLst>
          </a:prstGeom>
          <a:solidFill>
            <a:srgbClr val="2C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786384"/>
            <a:ext cx="4069080" cy="48463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A0 EDITABLE POWERPOINT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508760"/>
            <a:ext cx="15361920" cy="14630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Aptos Display"/>
              </a:rPr>
              <a:t>MaxSup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788920"/>
            <a:ext cx="15179040" cy="21031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Fixing Label Smoothing When the Model Is Wrong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4447520" cy="219456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50" b="0">
                <a:solidFill>
                  <a:srgbClr val="DDE8FF"/>
                </a:solidFill>
                <a:latin typeface="Aptos"/>
              </a:rPr>
              <a:t>A conference-booth poster concept that explains one precise idea:</a:t>
            </a:r>
            <a:br/>
            <a:r>
              <a:t>Label Smoothing penalizes the true class; MaxSup suppresses the dominant prediction.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7543800"/>
            <a:ext cx="8686800" cy="82296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450" b="1">
                <a:solidFill>
                  <a:srgbClr val="FF7A45"/>
                </a:solidFill>
                <a:latin typeface="Aptos"/>
              </a:rPr>
              <a:t>WHEN PREDICTION IS WRONG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8138160"/>
            <a:ext cx="11430000" cy="2057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LS keeps pushing down the ground-truth logit.</a:t>
            </a:r>
            <a:br/>
            <a:r>
              <a:t>MaxSup directly suppresses the top-1 logit instead.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09592" y="1033271"/>
            <a:ext cx="11887200" cy="99669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190720" y="914400"/>
            <a:ext cx="11887200" cy="9966960"/>
          </a:xfrm>
          <a:prstGeom prst="roundRect">
            <a:avLst/>
          </a:prstGeom>
          <a:solidFill>
            <a:srgbClr val="F5F1E8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602200" y="1325880"/>
            <a:ext cx="2926080" cy="457200"/>
          </a:xfrm>
          <a:prstGeom prst="roundRect">
            <a:avLst>
              <a:gd name="adj" fmla="val 35000"/>
            </a:avLst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602200" y="1335024"/>
            <a:ext cx="2926080" cy="43891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HERO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47920" y="1965960"/>
            <a:ext cx="10789920" cy="10058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500" b="1">
                <a:solidFill>
                  <a:srgbClr val="10233F"/>
                </a:solidFill>
                <a:latin typeface="Aptos Display"/>
              </a:rPr>
              <a:t>Wrong prediction case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93640" y="2697480"/>
            <a:ext cx="4937760" cy="11887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28476E"/>
                </a:solidFill>
                <a:latin typeface="Aptos"/>
              </a:rPr>
              <a:t>GT = cat</a:t>
            </a:r>
            <a:br/>
            <a:r>
              <a:t>cat = 1.0</a:t>
            </a:r>
            <a:br/>
            <a:r>
              <a:t>fox = 2.8</a:t>
            </a:r>
            <a:br/>
            <a:r>
              <a:t>dog = 0.4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219920" y="2697480"/>
            <a:ext cx="6035040" cy="10058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50" b="0">
                <a:solidFill>
                  <a:srgbClr val="28476E"/>
                </a:solidFill>
                <a:latin typeface="Aptos"/>
              </a:rPr>
              <a:t>A single substitution changes the training signal:</a:t>
            </a:r>
            <a:br/>
            <a:r>
              <a:t>z_gt  -&gt;  z_max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739360" y="4572000"/>
            <a:ext cx="5120640" cy="4023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876519" y="4681728"/>
            <a:ext cx="4846320" cy="3200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400" b="1">
                <a:solidFill>
                  <a:srgbClr val="28476E"/>
                </a:solidFill>
                <a:latin typeface="Aptos"/>
              </a:rPr>
              <a:t>LS penalizes z_gt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05119" y="7513320"/>
            <a:ext cx="566928" cy="5791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059399" y="8138160"/>
            <a:ext cx="658368" cy="2743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6D84A3"/>
                </a:solidFill>
                <a:latin typeface="Aptos"/>
              </a:rPr>
              <a:t>cat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059399" y="7257288"/>
            <a:ext cx="658368" cy="2286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1">
                <a:solidFill>
                  <a:srgbClr val="28476E"/>
                </a:solidFill>
                <a:latin typeface="Aptos"/>
              </a:rPr>
              <a:t>1.0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83527" y="6470904"/>
            <a:ext cx="566928" cy="1621535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037807" y="8138160"/>
            <a:ext cx="658368" cy="2743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6D84A3"/>
                </a:solidFill>
                <a:latin typeface="Aptos"/>
              </a:rPr>
              <a:t>fox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037807" y="6214871"/>
            <a:ext cx="658368" cy="2286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28476E"/>
                </a:solidFill>
                <a:latin typeface="Aptos"/>
              </a:rPr>
              <a:t>2.8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061935" y="7860791"/>
            <a:ext cx="566928" cy="231647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016215" y="8138160"/>
            <a:ext cx="658368" cy="2743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6D84A3"/>
                </a:solidFill>
                <a:latin typeface="Aptos"/>
              </a:rPr>
              <a:t>dog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016215" y="7604760"/>
            <a:ext cx="658368" cy="2286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28476E"/>
                </a:solidFill>
                <a:latin typeface="Aptos"/>
              </a:rPr>
              <a:t>0.4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18251423" y="5074920"/>
            <a:ext cx="292608" cy="502920"/>
          </a:xfrm>
          <a:prstGeom prst="downArrow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903952" y="8366760"/>
            <a:ext cx="4791455" cy="2743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6D84A3"/>
                </a:solidFill>
                <a:latin typeface="Aptos"/>
              </a:rPr>
              <a:t>penalized target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951440" y="4572000"/>
            <a:ext cx="5120640" cy="4023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088600" y="4681728"/>
            <a:ext cx="4846320" cy="3200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400" b="1">
                <a:solidFill>
                  <a:srgbClr val="28476E"/>
                </a:solidFill>
                <a:latin typeface="Aptos"/>
              </a:rPr>
              <a:t>MaxSup penalizes z_max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317200" y="7513320"/>
            <a:ext cx="566928" cy="57912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271480" y="8138160"/>
            <a:ext cx="658368" cy="2743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6D84A3"/>
                </a:solidFill>
                <a:latin typeface="Aptos"/>
              </a:rPr>
              <a:t>cat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271480" y="7257288"/>
            <a:ext cx="658368" cy="2286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28476E"/>
                </a:solidFill>
                <a:latin typeface="Aptos"/>
              </a:rPr>
              <a:t>1.0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295608" y="6470904"/>
            <a:ext cx="566928" cy="1621535"/>
          </a:xfrm>
          <a:prstGeom prst="rect">
            <a:avLst/>
          </a:prstGeom>
          <a:solidFill>
            <a:srgbClr val="2C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249888" y="8138160"/>
            <a:ext cx="658368" cy="2743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6D84A3"/>
                </a:solidFill>
                <a:latin typeface="Aptos"/>
              </a:rPr>
              <a:t>fox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249888" y="6214871"/>
            <a:ext cx="658368" cy="2286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1">
                <a:solidFill>
                  <a:srgbClr val="28476E"/>
                </a:solidFill>
                <a:latin typeface="Aptos"/>
              </a:rPr>
              <a:t>2.8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74016" y="7860791"/>
            <a:ext cx="566928" cy="231647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228296" y="8138160"/>
            <a:ext cx="658368" cy="2743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6D84A3"/>
                </a:solidFill>
                <a:latin typeface="Aptos"/>
              </a:rPr>
              <a:t>dog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228296" y="7604760"/>
            <a:ext cx="658368" cy="2286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28476E"/>
                </a:solidFill>
                <a:latin typeface="Aptos"/>
              </a:rPr>
              <a:t>0.4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24441912" y="5074920"/>
            <a:ext cx="292608" cy="502920"/>
          </a:xfrm>
          <a:prstGeom prst="downArrow">
            <a:avLst/>
          </a:prstGeom>
          <a:solidFill>
            <a:srgbClr val="2C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116032" y="8366760"/>
            <a:ext cx="4791455" cy="27432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150" b="0">
                <a:solidFill>
                  <a:srgbClr val="6D84A3"/>
                </a:solidFill>
                <a:latin typeface="Aptos"/>
              </a:rPr>
              <a:t>penalized 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876520" y="8869680"/>
            <a:ext cx="10058400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650" b="1">
                <a:solidFill>
                  <a:srgbClr val="6D84A3"/>
                </a:solidFill>
                <a:latin typeface="Aptos"/>
              </a:rPr>
              <a:t>Takeaway: MaxSup preserves LS regularization while avoiding error amplification.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4400" y="11338560"/>
            <a:ext cx="28392120" cy="1234440"/>
          </a:xfrm>
          <a:prstGeom prst="roundRect">
            <a:avLst/>
          </a:prstGeom>
          <a:solidFill>
            <a:srgbClr val="12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25880" y="11567160"/>
            <a:ext cx="27432000" cy="64008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LS regularizes the label target.   MaxSup regularizes the dominant prediction.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053560" y="13121640"/>
            <a:ext cx="11612880" cy="10058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r"/>
            <a:r>
              <a:rPr sz="4400" b="1">
                <a:solidFill>
                  <a:srgbClr val="DDE8FF"/>
                </a:solidFill>
                <a:latin typeface="Aptos Display"/>
              </a:rPr>
              <a:t>z_gt  -&gt;  z_max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3271" y="13103352"/>
            <a:ext cx="17007840" cy="120243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" y="12984480"/>
            <a:ext cx="17007840" cy="12024360"/>
          </a:xfrm>
          <a:prstGeom prst="roundRect">
            <a:avLst/>
          </a:prstGeom>
          <a:solidFill>
            <a:srgbClr val="F5F1E8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280160" y="13395960"/>
            <a:ext cx="2377440" cy="438912"/>
          </a:xfrm>
          <a:prstGeom prst="roundRect">
            <a:avLst>
              <a:gd name="adj" fmla="val 35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80160" y="13405104"/>
            <a:ext cx="2377440" cy="420623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98448" y="14036040"/>
            <a:ext cx="15956280" cy="19202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400" b="1">
                <a:solidFill>
                  <a:srgbClr val="10233F"/>
                </a:solidFill>
                <a:latin typeface="Aptos Display"/>
              </a:rPr>
              <a:t>Label Smoothing helps calibration, but on misclassified samples it can amplify the wrong direction and compress features too aggressively.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325880" y="16047720"/>
            <a:ext cx="16184880" cy="36576"/>
          </a:xfrm>
          <a:prstGeom prst="rect">
            <a:avLst/>
          </a:prstGeom>
          <a:solidFill>
            <a:srgbClr val="C9D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280160" y="16504920"/>
            <a:ext cx="2240280" cy="438912"/>
          </a:xfrm>
          <a:prstGeom prst="roundRect">
            <a:avLst>
              <a:gd name="adj" fmla="val 35000"/>
            </a:avLst>
          </a:prstGeom>
          <a:solidFill>
            <a:srgbClr val="2C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80160" y="16514064"/>
            <a:ext cx="2240280" cy="420623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98448" y="17145000"/>
            <a:ext cx="8046720" cy="14630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400" b="1">
                <a:solidFill>
                  <a:srgbClr val="10233F"/>
                </a:solidFill>
                <a:latin typeface="Georgia"/>
              </a:rPr>
              <a:t>L_LS = alpha (z_gt - mean(z))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98448" y="18379440"/>
            <a:ext cx="8046720" cy="14630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400" b="1">
                <a:solidFill>
                  <a:srgbClr val="10233F"/>
                </a:solidFill>
                <a:latin typeface="Georgia"/>
              </a:rPr>
              <a:t>L_MaxSup = alpha (z_max - mean(z))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06840" y="17190720"/>
            <a:ext cx="7680960" cy="23774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2400" b="1">
                <a:solidFill>
                  <a:srgbClr val="2C67F2"/>
                </a:solidFill>
                <a:latin typeface="Aptos Display"/>
              </a:rPr>
              <a:t>One change only:</a:t>
            </a:r>
            <a:br/>
            <a:r>
              <a:t>z_gt -&gt; z_max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325880" y="20299680"/>
            <a:ext cx="15819120" cy="3977639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600200" y="20619720"/>
            <a:ext cx="15270480" cy="33832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50" b="0">
                <a:solidFill>
                  <a:srgbClr val="28476E"/>
                </a:solidFill>
                <a:latin typeface="Aptos"/>
              </a:rPr>
              <a:t>Why this matters</a:t>
            </a:r>
            <a:br/>
            <a:br/>
            <a:r>
              <a:t>• Correct prediction: still suppresses overconfidence.</a:t>
            </a:r>
            <a:br/>
            <a:r>
              <a:t>• Wrong prediction: suppresses the dominant wrong class instead of hurting the truth.</a:t>
            </a:r>
            <a:br/>
            <a:r>
              <a:t>• Representation space: preserves richer intra-class variation while keeping classes separable.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8681192" y="13103352"/>
            <a:ext cx="10744200" cy="120243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8562320" y="12984480"/>
            <a:ext cx="10744200" cy="12024360"/>
          </a:xfrm>
          <a:prstGeom prst="roundRect">
            <a:avLst/>
          </a:prstGeom>
          <a:solidFill>
            <a:srgbClr val="12284A"/>
          </a:solidFill>
          <a:ln w="17780">
            <a:solidFill>
              <a:srgbClr val="2C6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065240" y="13487400"/>
            <a:ext cx="9692640" cy="7772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RESULTS THAT STOP PEOPLE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9138392" y="14703551"/>
            <a:ext cx="4572000" cy="35661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9019520" y="14584680"/>
            <a:ext cx="4572000" cy="35661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9248120" y="14785847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2C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248120" y="14794992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DeiT-Small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202400" y="15453359"/>
            <a:ext cx="4206240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76.49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0" y="16184880"/>
            <a:ext cx="4206240" cy="17830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MaxSup beats LS (76.08) and OLS (76.16).</a:t>
            </a:r>
            <a:br/>
            <a:r>
              <a:t>Message: not CNN-specific; works for transformers too.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3984712" y="14703551"/>
            <a:ext cx="4754880" cy="35661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3865840" y="14584680"/>
            <a:ext cx="4754880" cy="35661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24094440" y="14785847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094440" y="14794992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10233F"/>
                </a:solidFill>
                <a:latin typeface="Aptos"/>
              </a:rPr>
              <a:t>ADE20K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4048720" y="15453359"/>
            <a:ext cx="4389120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42.8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4048720" y="16184880"/>
            <a:ext cx="4389120" cy="17830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UPerNet segmentation also improves over LS (42.4).</a:t>
            </a:r>
            <a:br/>
            <a:r>
              <a:t>Message: better backbone transfer, not just classification.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9138392" y="18635472"/>
            <a:ext cx="4572000" cy="31089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9019520" y="18516600"/>
            <a:ext cx="4572000" cy="31089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9248120" y="18717768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9248120" y="18726912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10233F"/>
                </a:solidFill>
                <a:latin typeface="Aptos"/>
              </a:rPr>
              <a:t>Grad-CAM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202400" y="19385280"/>
            <a:ext cx="4206240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Sharper focus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9202400" y="20116800"/>
            <a:ext cx="4206240" cy="13258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More object-centric attention.</a:t>
            </a:r>
            <a:br/>
            <a:r>
              <a:t>Less background and shortcut bias.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3984712" y="18635472"/>
            <a:ext cx="4754880" cy="31089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3865840" y="18516600"/>
            <a:ext cx="4754880" cy="31089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24094440" y="18717768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F6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4094440" y="18726912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10233F"/>
                </a:solidFill>
                <a:latin typeface="Aptos"/>
              </a:rPr>
              <a:t>Overhead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048720" y="19385280"/>
            <a:ext cx="4389120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~ none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048720" y="20116800"/>
            <a:ext cx="4389120" cy="13258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Appendix Table 16: negligible compute cost.</a:t>
            </a:r>
            <a:br/>
            <a:r>
              <a:t>Simple swap, no architecture change.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9138392" y="22110192"/>
            <a:ext cx="9601200" cy="246888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9019520" y="21991320"/>
            <a:ext cx="9601200" cy="2468880"/>
          </a:xfrm>
          <a:prstGeom prst="roundRect">
            <a:avLst/>
          </a:prstGeom>
          <a:solidFill>
            <a:srgbClr val="F5F1E8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9293840" y="22265640"/>
            <a:ext cx="1828800" cy="393192"/>
          </a:xfrm>
          <a:prstGeom prst="roundRect">
            <a:avLst>
              <a:gd name="adj" fmla="val 35000"/>
            </a:avLst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9293840" y="22274784"/>
            <a:ext cx="1828800" cy="374904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DEMO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5511760" y="22357080"/>
            <a:ext cx="2148840" cy="169164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6D8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9339560" y="22814280"/>
            <a:ext cx="5394960" cy="11430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1">
                <a:solidFill>
                  <a:srgbClr val="10233F"/>
                </a:solidFill>
                <a:latin typeface="Aptos"/>
              </a:rPr>
              <a:t>Interactive logit simulator</a:t>
            </a:r>
            <a:br/>
            <a:r>
              <a:t>Scan to test LS vs MaxSup.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5740360" y="22860000"/>
            <a:ext cx="1691640" cy="1005840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2800" b="1">
                <a:solidFill>
                  <a:srgbClr val="6D84A3"/>
                </a:solidFill>
                <a:latin typeface="Aptos Display"/>
              </a:rPr>
              <a:t>QR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" y="25831800"/>
            <a:ext cx="16459200" cy="82296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SUPPORT EVIDENCE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33271" y="26773631"/>
            <a:ext cx="9235440" cy="1161288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14400" y="26654760"/>
            <a:ext cx="9235440" cy="11612880"/>
          </a:xfrm>
          <a:prstGeom prst="roundRect">
            <a:avLst/>
          </a:prstGeom>
          <a:solidFill>
            <a:srgbClr val="F5F1E8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1234440" y="26974800"/>
            <a:ext cx="2880360" cy="420624"/>
          </a:xfrm>
          <a:prstGeom prst="roundRect">
            <a:avLst>
              <a:gd name="adj" fmla="val 35000"/>
            </a:avLst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34440" y="26983944"/>
            <a:ext cx="2880360" cy="402336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10233F"/>
                </a:solidFill>
                <a:latin typeface="Aptos"/>
              </a:rPr>
              <a:t>REPRESENTATION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34440" y="27614880"/>
            <a:ext cx="8412480" cy="10972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100" b="1">
                <a:solidFill>
                  <a:srgbClr val="10233F"/>
                </a:solidFill>
                <a:latin typeface="Aptos Display"/>
              </a:rPr>
              <a:t>MaxSup improves inter-class separability and preserves intra-class variability.</a:t>
            </a:r>
          </a:p>
        </p:txBody>
      </p:sp>
      <p:sp>
        <p:nvSpPr>
          <p:cNvPr id="121" name="Oval 120"/>
          <p:cNvSpPr/>
          <p:nvPr/>
        </p:nvSpPr>
        <p:spPr>
          <a:xfrm>
            <a:off x="1508760" y="29215080"/>
            <a:ext cx="2468880" cy="1737360"/>
          </a:xfrm>
          <a:prstGeom prst="ellipse">
            <a:avLst/>
          </a:prstGeom>
          <a:solidFill>
            <a:srgbClr val="D9F3EE"/>
          </a:solidFill>
          <a:ln w="17780">
            <a:solidFill>
              <a:srgbClr val="41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703320" y="30175200"/>
            <a:ext cx="2103120" cy="1463040"/>
          </a:xfrm>
          <a:prstGeom prst="ellipse">
            <a:avLst/>
          </a:prstGeom>
          <a:solidFill>
            <a:srgbClr val="FFE3D7"/>
          </a:solidFill>
          <a:ln w="1778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04872" y="29900880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2468880" y="30019752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532888" y="29964887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350008" y="29983176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423160" y="30083760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569463" y="29873448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526279" y="30769560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599431" y="30879287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672583" y="30815280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480560" y="30952440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562856" y="30678119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636008" y="31007303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417320" y="31866840"/>
            <a:ext cx="3657600" cy="4114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450" b="1">
                <a:solidFill>
                  <a:srgbClr val="FF7A45"/>
                </a:solidFill>
                <a:latin typeface="Aptos"/>
              </a:rPr>
              <a:t>LS: clusters collapse</a:t>
            </a:r>
          </a:p>
        </p:txBody>
      </p:sp>
      <p:sp>
        <p:nvSpPr>
          <p:cNvPr id="136" name="Oval 135"/>
          <p:cNvSpPr/>
          <p:nvPr/>
        </p:nvSpPr>
        <p:spPr>
          <a:xfrm>
            <a:off x="4800600" y="29215080"/>
            <a:ext cx="2468880" cy="1737360"/>
          </a:xfrm>
          <a:prstGeom prst="ellipse">
            <a:avLst/>
          </a:prstGeom>
          <a:solidFill>
            <a:srgbClr val="D9F3EE"/>
          </a:solidFill>
          <a:ln w="17780">
            <a:solidFill>
              <a:srgbClr val="41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995160" y="30175200"/>
            <a:ext cx="2103120" cy="1463040"/>
          </a:xfrm>
          <a:prstGeom prst="ellipse">
            <a:avLst/>
          </a:prstGeom>
          <a:solidFill>
            <a:srgbClr val="FFE3D7"/>
          </a:solidFill>
          <a:ln w="1778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394960" y="29718000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641848" y="29873448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916168" y="29745432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788152" y="30147768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440680" y="30083760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062472" y="29964887"/>
            <a:ext cx="109728" cy="109728"/>
          </a:xfrm>
          <a:prstGeom prst="ellipse">
            <a:avLst/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498079" y="30632400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726679" y="30879287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046720" y="30678119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229600" y="31135319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653528" y="31208472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955279" y="30449519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709160" y="31866840"/>
            <a:ext cx="3749039" cy="4114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ctr"/>
            <a:r>
              <a:rPr sz="1450" b="1">
                <a:solidFill>
                  <a:srgbClr val="41B8A8"/>
                </a:solidFill>
                <a:latin typeface="Aptos"/>
              </a:rPr>
              <a:t>MaxSup: richer spread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325880" y="32506919"/>
            <a:ext cx="8138160" cy="420624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620" b="0">
                <a:solidFill>
                  <a:srgbClr val="28476E"/>
                </a:solidFill>
                <a:latin typeface="Aptos"/>
              </a:rPr>
              <a:t>Poster note</a:t>
            </a:r>
            <a:br/>
            <a:br/>
            <a:r>
              <a:t>Use Table 2 to say: same class should not collapse too much, different classes should stay clearly separated.</a:t>
            </a:r>
            <a:br/>
            <a:br/>
            <a:r>
              <a:t>This gives you an easy visual explanation for why the method helps downstream tasks.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680192" y="26773631"/>
            <a:ext cx="9235440" cy="1161288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0561320" y="26654760"/>
            <a:ext cx="9235440" cy="11612880"/>
          </a:xfrm>
          <a:prstGeom prst="roundRect">
            <a:avLst/>
          </a:prstGeom>
          <a:solidFill>
            <a:srgbClr val="F5F1E8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10881360" y="26974800"/>
            <a:ext cx="3200400" cy="420624"/>
          </a:xfrm>
          <a:prstGeom prst="roundRect">
            <a:avLst>
              <a:gd name="adj" fmla="val 35000"/>
            </a:avLst>
          </a:prstGeom>
          <a:solidFill>
            <a:srgbClr val="2C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881360" y="26983944"/>
            <a:ext cx="3200400" cy="402336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DOWNSTREAM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881360" y="27614880"/>
            <a:ext cx="8412480" cy="10972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050" b="1">
                <a:solidFill>
                  <a:srgbClr val="10233F"/>
                </a:solidFill>
                <a:latin typeface="Aptos Display"/>
              </a:rPr>
              <a:t>MaxSup is not just an ImageNet trick. It supports transfer, fine-grained recognition, long-tailed data, and segmentation.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091672" y="29196791"/>
            <a:ext cx="4023360" cy="24231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10972800" y="29077919"/>
            <a:ext cx="4023360" cy="24231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1201400" y="29279087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201400" y="29288231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10233F"/>
                </a:solidFill>
                <a:latin typeface="Aptos"/>
              </a:rPr>
              <a:t>Fine-grained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155680" y="29946600"/>
            <a:ext cx="3657600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CUB / Cars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155680" y="30678119"/>
            <a:ext cx="3657600" cy="6400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Captures subtle details better.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5252192" y="29196791"/>
            <a:ext cx="4023360" cy="24231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15133320" y="29077919"/>
            <a:ext cx="4023360" cy="24231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15361920" y="29279087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5361920" y="29288231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10233F"/>
                </a:solidFill>
                <a:latin typeface="Aptos"/>
              </a:rPr>
              <a:t>Long-tailed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5316200" y="29946600"/>
            <a:ext cx="3657600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better tradeoff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5316200" y="30678119"/>
            <a:ext cx="3657600" cy="6400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More robust across many-, medium-, and low-shot regimes.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1091672" y="31939992"/>
            <a:ext cx="4023360" cy="24231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10972800" y="31821119"/>
            <a:ext cx="4023360" cy="24231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11201400" y="32022287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2C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1201400" y="32031431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OOD / Corruption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1155680" y="32689800"/>
            <a:ext cx="3657600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reliable confidence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155680" y="33421319"/>
            <a:ext cx="3657600" cy="6400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Better calibration on CIFAR-10-C.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5252192" y="31939992"/>
            <a:ext cx="4023360" cy="24231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15133320" y="31821119"/>
            <a:ext cx="4023360" cy="24231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15361920" y="32022287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F6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5361920" y="32031431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10233F"/>
                </a:solidFill>
                <a:latin typeface="Aptos"/>
              </a:rPr>
              <a:t>Transfer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5316200" y="32689800"/>
            <a:ext cx="3657600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stronger backbone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5316200" y="33421319"/>
            <a:ext cx="3657600" cy="6400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Segmentation results show features transfer better.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927080" y="34701480"/>
            <a:ext cx="8138160" cy="22860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620" b="0">
                <a:solidFill>
                  <a:srgbClr val="28476E"/>
                </a:solidFill>
                <a:latin typeface="Aptos"/>
              </a:rPr>
              <a:t>Booth line</a:t>
            </a:r>
            <a:br/>
            <a:br/>
            <a:r>
              <a:t>This small loss change improves accuracy, transferability, segmentation, calibration, and interpretability without changing the model architecture.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20327112" y="26773631"/>
            <a:ext cx="9098280" cy="1161288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20208240" y="26654760"/>
            <a:ext cx="9098280" cy="11612880"/>
          </a:xfrm>
          <a:prstGeom prst="roundRect">
            <a:avLst/>
          </a:prstGeom>
          <a:solidFill>
            <a:srgbClr val="F5F1E8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20528280" y="26974800"/>
            <a:ext cx="2743200" cy="420624"/>
          </a:xfrm>
          <a:prstGeom prst="roundRect">
            <a:avLst>
              <a:gd name="adj" fmla="val 35000"/>
            </a:avLst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0528280" y="26983944"/>
            <a:ext cx="2743200" cy="402336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0528280" y="27614880"/>
            <a:ext cx="8183879" cy="109728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100" b="1">
                <a:solidFill>
                  <a:srgbClr val="10233F"/>
                </a:solidFill>
                <a:latin typeface="Aptos Display"/>
              </a:rPr>
              <a:t>Use appendix results strategically rather than dumping them.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20738592" y="29196791"/>
            <a:ext cx="8183879" cy="19659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20619720" y="29077919"/>
            <a:ext cx="8183879" cy="19659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20848320" y="29279087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2C6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0848320" y="29288231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Table 12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0802600" y="29946600"/>
            <a:ext cx="7818119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Extended transfer learning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0802600" y="30678119"/>
            <a:ext cx="7818119" cy="182879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Very poster-friendly. Strong support for representation quality.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20738592" y="31437072"/>
            <a:ext cx="8183879" cy="19659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20619720" y="31318200"/>
            <a:ext cx="8183879" cy="19659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20848320" y="31519368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0848320" y="31528511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10233F"/>
                </a:solidFill>
                <a:latin typeface="Aptos"/>
              </a:rPr>
              <a:t>Table 13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0802600" y="32186880"/>
            <a:ext cx="7818119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More baselines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0802600" y="32918400"/>
            <a:ext cx="7818119" cy="182879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Useful when someone asks whether the comparison is broad enough.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0738592" y="33677352"/>
            <a:ext cx="8183879" cy="196596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20619720" y="33558479"/>
            <a:ext cx="8183879" cy="1965960"/>
          </a:xfrm>
          <a:prstGeom prst="roundRect">
            <a:avLst/>
          </a:prstGeom>
          <a:solidFill>
            <a:srgbClr val="FBF8F1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20848320" y="33759647"/>
            <a:ext cx="2057400" cy="411480"/>
          </a:xfrm>
          <a:prstGeom prst="roundRect">
            <a:avLst>
              <a:gd name="adj" fmla="val 35000"/>
            </a:avLst>
          </a:prstGeom>
          <a:solidFill>
            <a:srgbClr val="41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0848320" y="33768791"/>
            <a:ext cx="2057400" cy="393192"/>
          </a:xfrm>
          <a:prstGeom prst="rect">
            <a:avLst/>
          </a:prstGeom>
          <a:noFill/>
        </p:spPr>
        <p:txBody>
          <a:bodyPr wrap="square" lIns="109728" rIns="109728" tIns="109728" bIns="109728" anchor="ctr">
            <a:spAutoFit/>
          </a:bodyPr>
          <a:lstStyle/>
          <a:p>
            <a:pPr algn="ctr"/>
            <a:r>
              <a:rPr sz="1400" b="1">
                <a:solidFill>
                  <a:srgbClr val="10233F"/>
                </a:solidFill>
                <a:latin typeface="Aptos"/>
              </a:rPr>
              <a:t>Table 16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0802600" y="34427160"/>
            <a:ext cx="7818119" cy="9144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3300" b="1">
                <a:solidFill>
                  <a:srgbClr val="10233F"/>
                </a:solidFill>
                <a:latin typeface="Aptos Display"/>
              </a:rPr>
              <a:t>Compute efficiency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802600" y="35158679"/>
            <a:ext cx="7818119" cy="182879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The method is lightweight. Almost no extra cost.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0665440" y="35890200"/>
            <a:ext cx="8046720" cy="128016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620" b="1">
                <a:solidFill>
                  <a:srgbClr val="28476E"/>
                </a:solidFill>
                <a:latin typeface="Aptos"/>
              </a:rPr>
              <a:t>Rule of thumb</a:t>
            </a:r>
            <a:br/>
            <a:r>
              <a:t>Pick only 1-2 appendix items in the final version. Curate; do not crowd.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1033271" y="38935152"/>
            <a:ext cx="28392120" cy="2468880"/>
          </a:xfrm>
          <a:prstGeom prst="roundRect">
            <a:avLst/>
          </a:prstGeom>
          <a:solidFill>
            <a:srgbClr val="06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914400" y="38816280"/>
            <a:ext cx="28392120" cy="2468880"/>
          </a:xfrm>
          <a:prstGeom prst="roundRect">
            <a:avLst/>
          </a:prstGeom>
          <a:solidFill>
            <a:srgbClr val="F5F1E8"/>
          </a:solidFill>
          <a:ln w="17780">
            <a:solidFill>
              <a:srgbClr val="C9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234440" y="39154608"/>
            <a:ext cx="17190720" cy="68580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2200" b="1">
                <a:solidFill>
                  <a:srgbClr val="10233F"/>
                </a:solidFill>
                <a:latin typeface="Aptos Display"/>
              </a:rPr>
              <a:t>simple  ·  no architecture change  ·  low overhead  ·  stronger representations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234440" y="39822120"/>
            <a:ext cx="17556480" cy="82296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550" b="0">
                <a:solidFill>
                  <a:srgbClr val="6D84A3"/>
                </a:solidFill>
                <a:latin typeface="Aptos"/>
              </a:rPr>
              <a:t>Editable PPT handoff: all major blocks are shapes + text boxes so your team can restyle, resize, and replace content directly in PowerPoint.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0116800" y="39182040"/>
            <a:ext cx="8229600" cy="59436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r"/>
            <a:r>
              <a:rPr sz="1550" b="1">
                <a:solidFill>
                  <a:srgbClr val="FF7A45"/>
                </a:solidFill>
                <a:latin typeface="Aptos"/>
              </a:rPr>
              <a:t>Speaking split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0116800" y="39684960"/>
            <a:ext cx="8229600" cy="822960"/>
          </a:xfrm>
          <a:prstGeom prst="rect">
            <a:avLst/>
          </a:prstGeom>
          <a:noFill/>
        </p:spPr>
        <p:txBody>
          <a:bodyPr wrap="square" lIns="109728" rIns="109728" tIns="109728" bIns="109728" anchor="t">
            <a:spAutoFit/>
          </a:bodyPr>
          <a:lstStyle/>
          <a:p>
            <a:pPr algn="r"/>
            <a:r>
              <a:rPr sz="1550" b="0">
                <a:solidFill>
                  <a:srgbClr val="28476E"/>
                </a:solidFill>
                <a:latin typeface="Aptos"/>
              </a:rPr>
              <a:t>1 overview   2 theory   3 results   4 demo +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