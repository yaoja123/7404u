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B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848320" y="-914400"/>
            <a:ext cx="7315200" cy="3840480"/>
          </a:xfrm>
          <a:prstGeom prst="ellipse">
            <a:avLst/>
          </a:prstGeom>
          <a:solidFill>
            <a:srgbClr val="FD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8961120"/>
            <a:ext cx="5943600" cy="3657600"/>
          </a:xfrm>
          <a:prstGeom prst="ellipse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402800" y="28346400"/>
            <a:ext cx="5943600" cy="4572000"/>
          </a:xfrm>
          <a:prstGeom prst="ellipse">
            <a:avLst/>
          </a:prstGeom>
          <a:solidFill>
            <a:srgbClr val="D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868680"/>
            <a:ext cx="2286000" cy="438912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877824"/>
            <a:ext cx="2286000" cy="420623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A0 PORTRAIT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8288000" cy="10058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6200" b="1">
                <a:solidFill>
                  <a:srgbClr val="1D2A39"/>
                </a:solidFill>
                <a:latin typeface="Aptos Display"/>
              </a:rPr>
              <a:t>MaxSup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9019520" cy="1508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300" b="1">
                <a:solidFill>
                  <a:srgbClr val="1D2A39"/>
                </a:solidFill>
                <a:latin typeface="Aptos Display"/>
              </a:rPr>
              <a:t>Fixing Label Smoothing</a:t>
            </a:r>
            <a:br/>
            <a:r>
              <a:t>When the Model Is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16002000" cy="868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100" b="0">
                <a:solidFill>
                  <a:srgbClr val="42576E"/>
                </a:solidFill>
                <a:latin typeface="Aptos"/>
              </a:rPr>
              <a:t>One idea. One substitution. Better behavior when the model is wrong.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05904" y="1024128"/>
            <a:ext cx="9555480" cy="347472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705320" y="914400"/>
            <a:ext cx="9555480" cy="347472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025360" y="1234440"/>
            <a:ext cx="2240280" cy="384048"/>
          </a:xfrm>
          <a:prstGeom prst="roundRect">
            <a:avLst>
              <a:gd name="adj" fmla="val 38000"/>
            </a:avLst>
          </a:prstGeom>
          <a:solidFill>
            <a:srgbClr val="F4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25360" y="1243584"/>
            <a:ext cx="224028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1D2A39"/>
                </a:solidFill>
                <a:latin typeface="Aptos"/>
              </a:rPr>
              <a:t>GROUP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25360" y="1755648"/>
            <a:ext cx="886968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900" b="1">
                <a:solidFill>
                  <a:srgbClr val="1D2A39"/>
                </a:solidFill>
                <a:latin typeface="Aptos"/>
              </a:rPr>
              <a:t>Group ID: 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25360" y="2331720"/>
            <a:ext cx="8869680" cy="10058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0">
                <a:solidFill>
                  <a:srgbClr val="42576E"/>
                </a:solidFill>
                <a:latin typeface="Aptos"/>
              </a:rPr>
              <a:t>Names: ________ / ________ / ________ / 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360" y="3154680"/>
            <a:ext cx="8869680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450" b="0">
                <a:solidFill>
                  <a:srgbClr val="6E7E8F"/>
                </a:solidFill>
                <a:latin typeface="Aptos"/>
              </a:rPr>
              <a:t>Put your real names here for the final submission.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" y="5596128"/>
            <a:ext cx="28437840" cy="10058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86400"/>
            <a:ext cx="28437840" cy="10058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25880" y="5852160"/>
            <a:ext cx="2971800" cy="438912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861304"/>
            <a:ext cx="2971800" cy="420623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EYE-CATCHING MAIN GRAPHIC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6492240"/>
            <a:ext cx="10972800" cy="868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800" b="1">
                <a:solidFill>
                  <a:srgbClr val="1D2A39"/>
                </a:solidFill>
                <a:latin typeface="Aptos Display"/>
              </a:rPr>
              <a:t>Wrong prediction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7315200"/>
            <a:ext cx="5669280" cy="2011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500" b="1">
                <a:solidFill>
                  <a:srgbClr val="42576E"/>
                </a:solidFill>
                <a:latin typeface="Aptos"/>
              </a:rPr>
              <a:t>GT = cat</a:t>
            </a:r>
            <a:br/>
            <a:r>
              <a:t>cat = 1.0</a:t>
            </a:r>
            <a:br/>
            <a:r>
              <a:t>fox = 2.8</a:t>
            </a:r>
            <a:br/>
            <a:r>
              <a:t>dog = 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9646920"/>
            <a:ext cx="7498079" cy="11430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50" b="1">
                <a:solidFill>
                  <a:srgbClr val="E76F51"/>
                </a:solidFill>
                <a:latin typeface="Aptos"/>
              </a:rPr>
              <a:t>LS penalizes the true class</a:t>
            </a:r>
            <a:br/>
            <a:r>
              <a:t>when the model is already wrong.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11155680"/>
            <a:ext cx="7589520" cy="11430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50" b="1">
                <a:solidFill>
                  <a:srgbClr val="2458B3"/>
                </a:solidFill>
                <a:latin typeface="Aptos"/>
              </a:rPr>
              <a:t>MaxSup suppresses the dominant</a:t>
            </a:r>
            <a:br/>
            <a:r>
              <a:t>wrong logit instead.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6675120"/>
            <a:ext cx="9372600" cy="7269480"/>
          </a:xfrm>
          <a:prstGeom prst="roundRect">
            <a:avLst/>
          </a:prstGeom>
          <a:solidFill>
            <a:srgbClr val="F8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928080" y="6675120"/>
            <a:ext cx="9144000" cy="7269480"/>
          </a:xfrm>
          <a:prstGeom prst="roundRect">
            <a:avLst/>
          </a:prstGeom>
          <a:solidFill>
            <a:srgbClr val="EA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67160" y="7406640"/>
            <a:ext cx="3566160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2000" b="1">
                <a:solidFill>
                  <a:srgbClr val="1D2A39"/>
                </a:solidFill>
                <a:latin typeface="Aptos"/>
              </a:rPr>
              <a:t>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390120" y="9555480"/>
            <a:ext cx="566928" cy="594359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0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cat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98680" y="9299448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1">
                <a:solidFill>
                  <a:srgbClr val="42576E"/>
                </a:solidFill>
                <a:latin typeface="Aptos"/>
              </a:rPr>
              <a:t>1.0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41096" y="8485632"/>
            <a:ext cx="566928" cy="1664207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95376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fox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49656" y="8229600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2.8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92072" y="9912096"/>
            <a:ext cx="566928" cy="237744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246352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dog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00632" y="9656064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0.4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12527280" y="8001000"/>
            <a:ext cx="292608" cy="530352"/>
          </a:xfrm>
          <a:prstGeom prst="downArrow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58600" y="10469880"/>
            <a:ext cx="338328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300" b="0">
                <a:solidFill>
                  <a:srgbClr val="42576E"/>
                </a:solidFill>
                <a:latin typeface="Aptos"/>
              </a:rPr>
              <a:t>penalize z_gt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168360" y="7406640"/>
            <a:ext cx="3566160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2000" b="1">
                <a:solidFill>
                  <a:srgbClr val="1D2A39"/>
                </a:solidFill>
                <a:latin typeface="Aptos"/>
              </a:rPr>
              <a:t>MaxSup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91319" y="9555480"/>
            <a:ext cx="566928" cy="594359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599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cat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899879" y="9299448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942295" y="8485632"/>
            <a:ext cx="566928" cy="1664207"/>
          </a:xfrm>
          <a:prstGeom prst="rect">
            <a:avLst/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96575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fox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50855" y="8229600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1">
                <a:solidFill>
                  <a:srgbClr val="42576E"/>
                </a:solidFill>
                <a:latin typeface="Aptos"/>
              </a:rPr>
              <a:t>2.8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93271" y="9912096"/>
            <a:ext cx="566928" cy="237744"/>
          </a:xfrm>
          <a:prstGeom prst="rect">
            <a:avLst/>
          </a:prstGeom>
          <a:solidFill>
            <a:srgbClr val="CFE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847551" y="10195560"/>
            <a:ext cx="658368" cy="228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6E7E8F"/>
                </a:solidFill>
                <a:latin typeface="Aptos"/>
              </a:rPr>
              <a:t>dog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801831" y="9656064"/>
            <a:ext cx="749808" cy="2011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250" b="0">
                <a:solidFill>
                  <a:srgbClr val="42576E"/>
                </a:solidFill>
                <a:latin typeface="Aptos"/>
              </a:rPr>
              <a:t>0.4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23079455" y="8001000"/>
            <a:ext cx="292608" cy="530352"/>
          </a:xfrm>
          <a:prstGeom prst="downArrow">
            <a:avLst/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259800" y="10469880"/>
            <a:ext cx="3383280" cy="256032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300" b="0">
                <a:solidFill>
                  <a:srgbClr val="42576E"/>
                </a:solidFill>
                <a:latin typeface="Aptos"/>
              </a:rPr>
              <a:t>penalize z_max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07840" y="9144000"/>
            <a:ext cx="3017520" cy="109728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2600" b="1">
                <a:solidFill>
                  <a:srgbClr val="1D2A39"/>
                </a:solidFill>
                <a:latin typeface="Aptos Display"/>
              </a:rPr>
              <a:t>z_gt</a:t>
            </a:r>
            <a:br/>
            <a:r>
              <a:t>-&gt;</a:t>
            </a:r>
            <a:br/>
            <a:r>
              <a:t>z_max</a:t>
            </a:r>
          </a:p>
        </p:txBody>
      </p:sp>
      <p:sp>
        <p:nvSpPr>
          <p:cNvPr id="53" name="Chevron 52"/>
          <p:cNvSpPr/>
          <p:nvPr/>
        </p:nvSpPr>
        <p:spPr>
          <a:xfrm>
            <a:off x="17236440" y="7452360"/>
            <a:ext cx="2560320" cy="91440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17236440" y="11887200"/>
            <a:ext cx="2560320" cy="91440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46920" y="13350240"/>
            <a:ext cx="8458200" cy="5943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850" b="1">
                <a:solidFill>
                  <a:srgbClr val="42576E"/>
                </a:solidFill>
                <a:latin typeface="Aptos"/>
              </a:rPr>
              <a:t>LS regularizes the label target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339560" y="13350240"/>
            <a:ext cx="8229600" cy="5943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850" b="1">
                <a:solidFill>
                  <a:srgbClr val="42576E"/>
                </a:solidFill>
                <a:latin typeface="Aptos"/>
              </a:rPr>
              <a:t>MaxSup regularizes the dominant prediction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16184880"/>
            <a:ext cx="914400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WHY THIS MATTERS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16962120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14984" y="17574768"/>
            <a:ext cx="900684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14400" y="17465040"/>
            <a:ext cx="900684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188720" y="17739360"/>
            <a:ext cx="169164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88720" y="17748504"/>
            <a:ext cx="16916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PROBLEM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18333720"/>
            <a:ext cx="8321040" cy="13258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300" b="1">
                <a:solidFill>
                  <a:srgbClr val="1D2A39"/>
                </a:solidFill>
                <a:latin typeface="Aptos Display"/>
              </a:rPr>
              <a:t>Label Smoothing helps calibration, but can amplify errors on misclassified samples.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19933920"/>
            <a:ext cx="8229600" cy="2194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0">
                <a:solidFill>
                  <a:srgbClr val="42576E"/>
                </a:solidFill>
                <a:latin typeface="Aptos"/>
              </a:rPr>
              <a:t>People will not read a paragraph here.</a:t>
            </a:r>
            <a:br/>
            <a:r>
              <a:t>Keep this block to the single failure mode you want them to remember.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707624" y="17574768"/>
            <a:ext cx="900684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607040" y="17465040"/>
            <a:ext cx="900684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881360" y="17739360"/>
            <a:ext cx="164592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81360" y="17748504"/>
            <a:ext cx="164592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81360" y="18288000"/>
            <a:ext cx="813816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1D2A39"/>
                </a:solidFill>
                <a:latin typeface="Aptos Display"/>
              </a:rPr>
              <a:t>One substitution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19156680"/>
            <a:ext cx="8138160" cy="73152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2458B3"/>
                </a:solidFill>
                <a:latin typeface="Aptos Display"/>
              </a:rPr>
              <a:t>z_gt  -&gt;  z_max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81360" y="20116800"/>
            <a:ext cx="8138160" cy="1371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000" b="0">
                <a:solidFill>
                  <a:srgbClr val="42576E"/>
                </a:solidFill>
                <a:latin typeface="Aptos"/>
              </a:rPr>
              <a:t>L_LS = alpha (z_gt - mean(z))</a:t>
            </a:r>
            <a:br/>
            <a:r>
              <a:t>L_MaxSup = alpha (z_max - mean(z))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81360" y="21625560"/>
            <a:ext cx="813816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6E7E8F"/>
                </a:solidFill>
                <a:latin typeface="Aptos"/>
              </a:rPr>
              <a:t>Simple change. Consistent signal.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0400264" y="17574768"/>
            <a:ext cx="9052560" cy="54864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0299680" y="17465040"/>
            <a:ext cx="9052560" cy="54864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0574000" y="17739360"/>
            <a:ext cx="1965960" cy="384048"/>
          </a:xfrm>
          <a:prstGeom prst="roundRect">
            <a:avLst>
              <a:gd name="adj" fmla="val 38000"/>
            </a:avLst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74000" y="17748504"/>
            <a:ext cx="196596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TAKEAWAY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0" y="18333720"/>
            <a:ext cx="8229600" cy="13716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300" b="1">
                <a:solidFill>
                  <a:srgbClr val="1D2A39"/>
                </a:solidFill>
                <a:latin typeface="Aptos Display"/>
              </a:rPr>
              <a:t>Suppress the overconfident wrong class, not the ground truth.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0" y="20071080"/>
            <a:ext cx="8183879" cy="19659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0">
                <a:solidFill>
                  <a:srgbClr val="42576E"/>
                </a:solidFill>
                <a:latin typeface="Aptos"/>
              </a:rPr>
              <a:t>This keeps regularization on correct cases and avoids error amplification on wrong ones.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4400" y="23774400"/>
            <a:ext cx="914400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MAIN RESULTS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24524208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1498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13385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3385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DeiT-Small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76.49 &gt; 76.08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728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Transformer result.</a:t>
            </a:r>
            <a:br/>
            <a:r>
              <a:t>Easy poster message: not CNN-specific.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75334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65276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87221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87221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ADE20K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3564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42.8 &gt; 42.4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83564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Segmentation result.</a:t>
            </a:r>
            <a:br/>
            <a:r>
              <a:t>Backbone features transfer better.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491704" y="25118568"/>
            <a:ext cx="8961120" cy="475488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0391120" y="25008840"/>
            <a:ext cx="8961120" cy="475488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0610576" y="25210008"/>
            <a:ext cx="182880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610576" y="25219152"/>
            <a:ext cx="182880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Grad-CAM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0" y="25722072"/>
            <a:ext cx="8595360" cy="658368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3000" b="1">
                <a:solidFill>
                  <a:srgbClr val="1D2A39"/>
                </a:solidFill>
                <a:latin typeface="Aptos Display"/>
              </a:rPr>
              <a:t>more focused attention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0" y="26426160"/>
            <a:ext cx="8595360" cy="31546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More object-focused reasoning.</a:t>
            </a:r>
            <a:br/>
            <a:r>
              <a:t>Less background distraction.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30540960"/>
            <a:ext cx="12070080" cy="6400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900" b="1">
                <a:solidFill>
                  <a:srgbClr val="1D2A39"/>
                </a:solidFill>
                <a:latin typeface="Aptos Display"/>
              </a:rPr>
              <a:t>SUPPORTING EVIDENCE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4400" y="31272480"/>
            <a:ext cx="28346400" cy="27432"/>
          </a:xfrm>
          <a:prstGeom prst="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14984" y="31885127"/>
            <a:ext cx="914400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914400" y="31775400"/>
            <a:ext cx="914400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234440" y="32049719"/>
            <a:ext cx="2377440" cy="384048"/>
          </a:xfrm>
          <a:prstGeom prst="roundRect">
            <a:avLst>
              <a:gd name="adj" fmla="val 38000"/>
            </a:avLst>
          </a:prstGeom>
          <a:solidFill>
            <a:srgbClr val="F4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34440" y="32058863"/>
            <a:ext cx="23774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1D2A39"/>
                </a:solidFill>
                <a:latin typeface="Aptos"/>
              </a:rPr>
              <a:t>REPRESENTATION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34440" y="32598360"/>
            <a:ext cx="832104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1D2A39"/>
                </a:solidFill>
                <a:latin typeface="Aptos Display"/>
              </a:rPr>
              <a:t>Better feature geometry</a:t>
            </a:r>
          </a:p>
        </p:txBody>
      </p:sp>
      <p:sp>
        <p:nvSpPr>
          <p:cNvPr id="106" name="Oval 105"/>
          <p:cNvSpPr/>
          <p:nvPr/>
        </p:nvSpPr>
        <p:spPr>
          <a:xfrm>
            <a:off x="1417320" y="33832800"/>
            <a:ext cx="2560320" cy="1600200"/>
          </a:xfrm>
          <a:prstGeom prst="ellipse">
            <a:avLst/>
          </a:prstGeom>
          <a:solidFill>
            <a:srgbClr val="FDE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331720" y="34527744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04872" y="34600896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286000" y="34655760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459736" y="34491168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359152" y="34728912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478024" y="34619184"/>
            <a:ext cx="100584" cy="100584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17720" y="33832800"/>
            <a:ext cx="2560320" cy="1600200"/>
          </a:xfrm>
          <a:prstGeom prst="ellipse">
            <a:avLst/>
          </a:prstGeom>
          <a:solidFill>
            <a:srgbClr val="DD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120640" y="3424428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458968" y="3447288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733288" y="34344864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879592" y="3465576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67528" y="34792920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6062472" y="34399728"/>
            <a:ext cx="100584" cy="100584"/>
          </a:xfrm>
          <a:prstGeom prst="ellipse">
            <a:avLst/>
          </a:prstGeom>
          <a:solidFill>
            <a:srgbClr val="2A7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25880" y="35570160"/>
            <a:ext cx="2926080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500" b="1">
                <a:solidFill>
                  <a:srgbClr val="E76F51"/>
                </a:solidFill>
                <a:latin typeface="Aptos"/>
              </a:rPr>
              <a:t>LS: collapse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26280" y="35570160"/>
            <a:ext cx="2926080" cy="3657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ctr"/>
            <a:r>
              <a:rPr sz="1500" b="1">
                <a:solidFill>
                  <a:srgbClr val="2A7F62"/>
                </a:solidFill>
                <a:latin typeface="Aptos"/>
              </a:rPr>
              <a:t>MaxSup: richer spread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34440" y="36576000"/>
            <a:ext cx="8229600" cy="19202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0">
                <a:solidFill>
                  <a:srgbClr val="42576E"/>
                </a:solidFill>
                <a:latin typeface="Aptos"/>
              </a:rPr>
              <a:t>Use Table 2 here.</a:t>
            </a:r>
            <a:br/>
            <a:r>
              <a:t>Same class should not collapse too much.</a:t>
            </a:r>
            <a:br/>
            <a:r>
              <a:t>Different classes should stay separable.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0661904" y="31885127"/>
            <a:ext cx="914400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561320" y="31775400"/>
            <a:ext cx="914400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881360" y="32049719"/>
            <a:ext cx="2148840" cy="384048"/>
          </a:xfrm>
          <a:prstGeom prst="roundRect">
            <a:avLst>
              <a:gd name="adj" fmla="val 38000"/>
            </a:avLst>
          </a:prstGeom>
          <a:solidFill>
            <a:srgbClr val="245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881360" y="32058863"/>
            <a:ext cx="214884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DOWNSTREAM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81360" y="32598360"/>
            <a:ext cx="822960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400" b="1">
                <a:solidFill>
                  <a:srgbClr val="1D2A39"/>
                </a:solidFill>
                <a:latin typeface="Aptos Display"/>
              </a:rPr>
              <a:t>Not only classification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927080" y="33787080"/>
            <a:ext cx="3886200" cy="1874519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091672" y="3393338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Fine-grained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91672" y="3444544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CUB Birds and Stanford Cars.</a:t>
            </a:r>
            <a:br/>
            <a:r>
              <a:t>Captures subtle details better.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5179040" y="33787080"/>
            <a:ext cx="3886200" cy="1874519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343632" y="3393338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Long-tailed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343632" y="3444544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Better tradeoff across many-, medium-, and low-shot data.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927080" y="35981640"/>
            <a:ext cx="3886200" cy="1874519"/>
          </a:xfrm>
          <a:prstGeom prst="roundRect">
            <a:avLst/>
          </a:prstGeom>
          <a:solidFill>
            <a:srgbClr val="DDF2EA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1091672" y="3612794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OOD / Corruption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091672" y="3664000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Confidence is more reliable on CIFAR-10-C.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5179040" y="35981640"/>
            <a:ext cx="3886200" cy="1874519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5343632" y="36127944"/>
            <a:ext cx="355701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Segmentation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5343632" y="36640008"/>
            <a:ext cx="3557016" cy="105156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Backbone features transfer better to ADE20K.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0308824" y="31885127"/>
            <a:ext cx="9052560" cy="7315200"/>
          </a:xfrm>
          <a:prstGeom prst="roundRect">
            <a:avLst/>
          </a:prstGeom>
          <a:solidFill>
            <a:srgbClr val="DC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20208240" y="31775400"/>
            <a:ext cx="9052560" cy="73152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20528280" y="32049719"/>
            <a:ext cx="1965960" cy="384048"/>
          </a:xfrm>
          <a:prstGeom prst="roundRect">
            <a:avLst>
              <a:gd name="adj" fmla="val 38000"/>
            </a:avLst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528280" y="32058863"/>
            <a:ext cx="1965960" cy="365759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APPENDIX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528280" y="32598360"/>
            <a:ext cx="8138160" cy="9144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200" b="1">
                <a:solidFill>
                  <a:srgbClr val="1D2A39"/>
                </a:solidFill>
                <a:latin typeface="Aptos Display"/>
              </a:rPr>
              <a:t>Use only the appendix items that help your story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0574000" y="33832800"/>
            <a:ext cx="8046720" cy="123444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738592" y="3397910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738592" y="3449116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Extended transfer learning. Very poster-friendly.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20574000" y="35295840"/>
            <a:ext cx="8046720" cy="1234440"/>
          </a:xfrm>
          <a:prstGeom prst="roundRect">
            <a:avLst/>
          </a:prstGeom>
          <a:solidFill>
            <a:srgbClr val="EAF1FB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0738592" y="3544214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738592" y="3595420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More baselines. Good for tough comparison questions.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0574000" y="36758880"/>
            <a:ext cx="8046720" cy="1234440"/>
          </a:xfrm>
          <a:prstGeom prst="roundRect">
            <a:avLst/>
          </a:prstGeom>
          <a:solidFill>
            <a:srgbClr val="DDF2EA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0738592" y="36905184"/>
            <a:ext cx="7717536" cy="4572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800" b="1">
                <a:solidFill>
                  <a:srgbClr val="1D2A39"/>
                </a:solidFill>
                <a:latin typeface="Aptos Display"/>
              </a:rPr>
              <a:t>Table 16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738592" y="37417248"/>
            <a:ext cx="7717536" cy="41148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550" b="0">
                <a:solidFill>
                  <a:srgbClr val="42576E"/>
                </a:solidFill>
                <a:latin typeface="Aptos"/>
              </a:rPr>
              <a:t>Compute efficiency. Almost no extra cost.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14400" y="39547800"/>
            <a:ext cx="28437840" cy="1828800"/>
          </a:xfrm>
          <a:prstGeom prst="roundRect">
            <a:avLst/>
          </a:prstGeom>
          <a:solidFill>
            <a:srgbClr val="F8EFE4"/>
          </a:solidFill>
          <a:ln w="1524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234440" y="39822120"/>
            <a:ext cx="11430000" cy="54864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2100" b="1">
                <a:solidFill>
                  <a:srgbClr val="1D2A39"/>
                </a:solidFill>
                <a:latin typeface="Aptos Display"/>
              </a:rPr>
              <a:t>simple  ·  low overhead  ·  stronger representations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258800" y="39794688"/>
            <a:ext cx="7680960" cy="68580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l"/>
            <a:r>
              <a:rPr sz="1700" b="1">
                <a:solidFill>
                  <a:srgbClr val="42576E"/>
                </a:solidFill>
                <a:latin typeface="Aptos"/>
              </a:rPr>
              <a:t>Demo QR: put your Streamlit simulator here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579840" y="39822120"/>
            <a:ext cx="7315200" cy="731520"/>
          </a:xfrm>
          <a:prstGeom prst="rect">
            <a:avLst/>
          </a:prstGeom>
          <a:noFill/>
        </p:spPr>
        <p:txBody>
          <a:bodyPr wrap="square" tIns="91440" bIns="91440" anchor="t">
            <a:spAutoFit/>
          </a:bodyPr>
          <a:lstStyle/>
          <a:p>
            <a:pPr algn="r"/>
            <a:r>
              <a:rPr sz="1700" b="0">
                <a:solidFill>
                  <a:srgbClr val="42576E"/>
                </a:solidFill>
                <a:latin typeface="Aptos"/>
              </a:rPr>
              <a:t>People stop for visuals.</a:t>
            </a:r>
            <a:br/>
            <a:r>
              <a:t>They stay for one clear idea.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